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8.xml" ContentType="application/vnd.openxmlformats-officedocument.presentationml.slide+xml"/>
  <Override PartName="/ppt/slides/slide24.xml" ContentType="application/vnd.openxmlformats-officedocument.presentationml.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12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notesSlides/notesSlide14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AA8B7274-A910-4743-BBB5-56DA9FB38851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5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937BBFD-CC15-4723-81F3-1CCA622BBF66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8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E1791B0-0485-4B45-82D0-9B4DBF055C25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1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399D2C0-8C52-4B7D-A6AF-76B54C411A72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4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191ADAA-D6A5-49A1-9336-F1E9AC98EA1E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7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A4C2A91-99E3-4102-BAD3-C57C988CB834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0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9657FA0-410F-4F72-B9EC-D773EA3688E5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3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CB0452B-C692-40D8-8AF1-5D21AB61A70A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6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87DB03D-F717-4843-9D5C-75825E730D5D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9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009D1E5-58B6-4D87-884F-07D8FB83E973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2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ADA676A-D2D9-462E-A690-432DAF564A1C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5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56B1C65-4015-43A1-9105-C8CD441D5B0F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8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BA669FB-6DFB-45AA-BC35-23B8C16041CA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1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0F38475-D2EF-46EF-BC8C-6CBFD6027A98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4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67E1159-4511-4511-A18A-8A58BD1EBCC4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7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23A652A-5196-4175-9946-232A0A86D437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0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AE34BEE-E9F8-46C8-BD9F-307E7D78AA6D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3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C4836F3-6F1E-4FC0-899A-96F9FD435CAA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6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1FEB861-20D1-450D-A1D5-C09EEBC8F488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9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69429D8-3BEE-4306-A1AE-289634F9DD54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2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2C78EAB-C417-44EE-8BAC-FE2298C49FEB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5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134F4C8-6C00-4FA7-9A2F-D8F1C12E692C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8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D8AB788-B0DD-4245-A6B7-BE87F548DB90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1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64D8E55-E994-4944-AB84-C7C0F6ABD538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4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ED2502E-1E01-4ED5-A709-AE63520CDF82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7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49A18C4-7AAA-4CB8-A71E-AF950B86A241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0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826133A-BDC1-42CD-BB4C-F439EDC80148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4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9.png"/><Relationship Id="rId5" Type="http://schemas.openxmlformats.org/officeDocument/2006/relationships/image" Target="../media/image18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8.png"/><Relationship Id="rId3" Type="http://schemas.openxmlformats.org/officeDocument/2006/relationships/image" Target="../media/image16.png"/><Relationship Id="rId4" Type="http://schemas.openxmlformats.org/officeDocument/2006/relationships/image" Target="../media/image19.png"/><Relationship Id="rId5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1.png"/><Relationship Id="rId3" Type="http://schemas.openxmlformats.org/officeDocument/2006/relationships/image" Target="../media/image8.png"/><Relationship Id="rId4" Type="http://schemas.openxmlformats.org/officeDocument/2006/relationships/image" Target="../media/image20.png"/><Relationship Id="rId5" Type="http://schemas.openxmlformats.org/officeDocument/2006/relationships/image" Target="../media/image19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20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8.png"/><Relationship Id="rId3" Type="http://schemas.openxmlformats.org/officeDocument/2006/relationships/image" Target="../media/image20.png"/><Relationship Id="rId4" Type="http://schemas.openxmlformats.org/officeDocument/2006/relationships/image" Target="../media/image19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1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1.png"/><Relationship Id="rId3" Type="http://schemas.openxmlformats.org/officeDocument/2006/relationships/image" Target="../media/image16.png"/><Relationship Id="rId4" Type="http://schemas.openxmlformats.org/officeDocument/2006/relationships/image" Target="../media/image20.png"/><Relationship Id="rId5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7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hyperlink" Target="https://eurekamag.com/research/095/191/095191115.php?utm_source=chatgpt.com" TargetMode="External"/><Relationship Id="rId2" Type="http://schemas.openxmlformats.org/officeDocument/2006/relationships/hyperlink" Target="https://www.researchgate.net/publication/370071010_Control_and_Coordination_of_a_SWARM_of_Unmanned_Surface_Vehicles_using_Deep_Reinforcement_Learning_in_ROS?utm_source=chatgpt.com" TargetMode="External"/><Relationship Id="rId3" Type="http://schemas.openxmlformats.org/officeDocument/2006/relationships/hyperlink" Target="https://pure.kfupm.edu.sa/en/publications/swarm-unmanned-surface-vehicle-encirclement-task-with-multi-agent/?utm_source=chatgpt.com" TargetMode="External"/><Relationship Id="rId4" Type="http://schemas.openxmlformats.org/officeDocument/2006/relationships/hyperlink" Target="https://doi.org/10.1007/s44443-026-00954-6?utm_source=chatgpt.com" TargetMode="External"/><Relationship Id="rId5" Type="http://schemas.openxmlformats.org/officeDocument/2006/relationships/hyperlink" Target="https://www.researchgate.net/publication/399931119_Autonomous_Self-Healing_UAV_Swarms_for_Robust_6G_Non-Terrestrial_Networks?utm_source=chatgpt.com" TargetMode="External"/><Relationship Id="rId6" Type="http://schemas.openxmlformats.org/officeDocument/2006/relationships/hyperlink" Target="https://advanced.onlinelibrary.wiley.com/doi/10.1002/adma.202513641?utm_source=chatgpt.com" TargetMode="External"/><Relationship Id="rId7" Type="http://schemas.openxmlformats.org/officeDocument/2006/relationships/hyperlink" Target="https://scirate.com/search?q=au%3AEmami_Y+in%3Acs&amp;utm_source=chatgpt.com" TargetMode="External"/><Relationship Id="rId8" Type="http://schemas.openxmlformats.org/officeDocument/2006/relationships/hyperlink" Target="https://hub.docker.com/r/osrf/vrx?utm_source=chatgpt.com" TargetMode="External"/><Relationship Id="rId9" Type="http://schemas.openxmlformats.org/officeDocument/2006/relationships/hyperlink" Target="https://pubmed.ncbi.nlm.nih.gov/34573757/?utm_source=chatgpt.com" TargetMode="External"/><Relationship Id="rId10" Type="http://schemas.openxmlformats.org/officeDocument/2006/relationships/hyperlink" Target="https://www.mdpi.com/2504-446X/8/10/537?utm_source=chatgpt.com" TargetMode="External"/><Relationship Id="rId11" Type="http://schemas.openxmlformats.org/officeDocument/2006/relationships/hyperlink" Target="https://www.mdpi.com/2504-446X/9/7/484/html?utm_source=chatgpt.com" TargetMode="External"/><Relationship Id="rId12" Type="http://schemas.openxmlformats.org/officeDocument/2006/relationships/hyperlink" Target="https://arxiv.org/abs/2412.00534?utm_source=chatgpt.com" TargetMode="External"/><Relationship Id="rId13" Type="http://schemas.openxmlformats.org/officeDocument/2006/relationships/hyperlink" Target="https://pure.kaist.ac.kr/en/publications/human-implicit-preference-based-policy-fine-tuning-for-multi-agen/?utm_source=chatgpt.com" TargetMode="External"/><Relationship Id="rId14" Type="http://schemas.openxmlformats.org/officeDocument/2006/relationships/hyperlink" Target="https://www.frontiersin.org/journals/robotics-and-ai/articles/10.3389/frobt.2025.1605405/full?utm_source=chatgpt.com" TargetMode="External"/><Relationship Id="rId15" Type="http://schemas.openxmlformats.org/officeDocument/2006/relationships/hyperlink" Target="https://www.nature.com/articles/s41598-026-39366-x?utm_source=chatgpt.com" TargetMode="External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hyperlink" Target="https://arxiv.org/abs/1706.02275" TargetMode="External"/><Relationship Id="rId2" Type="http://schemas.openxmlformats.org/officeDocument/2006/relationships/hyperlink" Target="https://github.com/openai/maddpg" TargetMode="External"/><Relationship Id="rId3" Type="http://schemas.openxmlformats.org/officeDocument/2006/relationships/hyperlink" Target="https://github.com/openai/maddpg" TargetMode="External"/><Relationship Id="rId4" Type="http://schemas.openxmlformats.org/officeDocument/2006/relationships/hyperlink" Target="https://arxiv.org/abs/2103.01955" TargetMode="External"/><Relationship Id="rId5" Type="http://schemas.openxmlformats.org/officeDocument/2006/relationships/hyperlink" Target="https://github.com/marlbenchmark/on-policy" TargetMode="External"/><Relationship Id="rId6" Type="http://schemas.openxmlformats.org/officeDocument/2006/relationships/hyperlink" Target="https://github.com/marlbenchmark/on-policy" TargetMode="External"/><Relationship Id="rId7" Type="http://schemas.openxmlformats.org/officeDocument/2006/relationships/hyperlink" Target="https://arxiv.org/abs/2304.08189" TargetMode="External"/><Relationship Id="rId8" Type="http://schemas.openxmlformats.org/officeDocument/2006/relationships/hyperlink" Target="https://arxiv.org/abs/2304.08189" TargetMode="External"/><Relationship Id="rId9" Type="http://schemas.openxmlformats.org/officeDocument/2006/relationships/hyperlink" Target="https://doi.org/10.1016/j.trpro.2026.04.017" TargetMode="External"/><Relationship Id="rId10" Type="http://schemas.openxmlformats.org/officeDocument/2006/relationships/hyperlink" Target="https://doi.org/10.1016/j.trpro.2026.04.017" TargetMode="External"/><Relationship Id="rId11" Type="http://schemas.openxmlformats.org/officeDocument/2006/relationships/hyperlink" Target="https://doi.org/10.1007/s44443-026-00954-6" TargetMode="External"/><Relationship Id="rId12" Type="http://schemas.openxmlformats.org/officeDocument/2006/relationships/hyperlink" Target="https://doi.org/10.1007/s44443-026-00954-6" TargetMode="External"/><Relationship Id="rId13" Type="http://schemas.openxmlformats.org/officeDocument/2006/relationships/hyperlink" Target="https://arxiv.org/abs/2503.03796" TargetMode="External"/><Relationship Id="rId14" Type="http://schemas.openxmlformats.org/officeDocument/2006/relationships/hyperlink" Target="https://arxiv.org/abs/2503.03796" TargetMode="External"/><Relationship Id="rId15" Type="http://schemas.openxmlformats.org/officeDocument/2006/relationships/hyperlink" Target="https://arxiv.org/abs/2412.00534" TargetMode="External"/><Relationship Id="rId16" Type="http://schemas.openxmlformats.org/officeDocument/2006/relationships/hyperlink" Target="https://arxiv.org/abs/2412.00534" TargetMode="External"/><Relationship Id="rId17" Type="http://schemas.openxmlformats.org/officeDocument/2006/relationships/hyperlink" Target="https://doi.org/10.3390/e23091133" TargetMode="External"/><Relationship Id="rId18" Type="http://schemas.openxmlformats.org/officeDocument/2006/relationships/hyperlink" Target="https://doi.org/10.3390/e23091133" TargetMode="External"/><Relationship Id="rId19" Type="http://schemas.openxmlformats.org/officeDocument/2006/relationships/hyperlink" Target="https://doi.org/10.3390/drones8100537" TargetMode="External"/><Relationship Id="rId20" Type="http://schemas.openxmlformats.org/officeDocument/2006/relationships/hyperlink" Target="https://doi.org/10.3390/drones8100537" TargetMode="External"/><Relationship Id="rId21" Type="http://schemas.openxmlformats.org/officeDocument/2006/relationships/hyperlink" Target="https://arxiv.org/abs/2601.13418" TargetMode="External"/><Relationship Id="rId22" Type="http://schemas.openxmlformats.org/officeDocument/2006/relationships/hyperlink" Target="https://arxiv.org/abs/2601.13418" TargetMode="External"/><Relationship Id="rId23" Type="http://schemas.openxmlformats.org/officeDocument/2006/relationships/hyperlink" Target="https://doi.org/10.1038/s41598-026-39366-x" TargetMode="External"/><Relationship Id="rId24" Type="http://schemas.openxmlformats.org/officeDocument/2006/relationships/hyperlink" Target="https://doi.org/10.1038/s41598-026-39366-x" TargetMode="External"/><Relationship Id="rId25" Type="http://schemas.openxmlformats.org/officeDocument/2006/relationships/hyperlink" Target="https://arxiv.org/abs/2607.09756" TargetMode="External"/><Relationship Id="rId26" Type="http://schemas.openxmlformats.org/officeDocument/2006/relationships/hyperlink" Target="https://arxiv.org/abs/2607.09756" TargetMode="External"/><Relationship Id="rId27" Type="http://schemas.openxmlformats.org/officeDocument/2006/relationships/hyperlink" Target="https://doi.org/10.3389/frobt.2025.1605405" TargetMode="External"/><Relationship Id="rId28" Type="http://schemas.openxmlformats.org/officeDocument/2006/relationships/hyperlink" Target="https://doi.org/10.3389/frobt.2025.1605405" TargetMode="External"/><Relationship Id="rId29" Type="http://schemas.openxmlformats.org/officeDocument/2006/relationships/hyperlink" Target="https://doi.org/10.1002/adma.202513641" TargetMode="External"/><Relationship Id="rId30" Type="http://schemas.openxmlformats.org/officeDocument/2006/relationships/hyperlink" Target="https://doi.org/10.1002/adma.202513641" TargetMode="External"/><Relationship Id="rId31" Type="http://schemas.openxmlformats.org/officeDocument/2006/relationships/hyperlink" Target="https://github.com/usvtrack/usvtrack" TargetMode="External"/><Relationship Id="rId32" Type="http://schemas.openxmlformats.org/officeDocument/2006/relationships/hyperlink" Target="https://github.com/usvtrack/usvtrack" TargetMode="External"/><Relationship Id="rId33" Type="http://schemas.openxmlformats.org/officeDocument/2006/relationships/hyperlink" Target="https://github.com/SnowPye/USVTrack" TargetMode="External"/><Relationship Id="rId34" Type="http://schemas.openxmlformats.org/officeDocument/2006/relationships/hyperlink" Target="https://github.com/SnowPye/USVTrack" TargetMode="External"/><Relationship Id="rId35" Type="http://schemas.openxmlformats.org/officeDocument/2006/relationships/hyperlink" Target="https://github.com/WaterScenes/WaterScenes" TargetMode="External"/><Relationship Id="rId36" Type="http://schemas.openxmlformats.org/officeDocument/2006/relationships/hyperlink" Target="https://github.com/WaterScenes/WaterScenes" TargetMode="External"/><Relationship Id="rId37" Type="http://schemas.openxmlformats.org/officeDocument/2006/relationships/hyperlink" Target="https://vision.fe.uni-lj.si/RESEARCH/modd/" TargetMode="External"/><Relationship Id="rId38" Type="http://schemas.openxmlformats.org/officeDocument/2006/relationships/hyperlink" Target="https://vision.fe.uni-lj.si/RESEARCH/modd/" TargetMode="External"/><Relationship Id="rId39" Type="http://schemas.openxmlformats.org/officeDocument/2006/relationships/hyperlink" Target="https://github.com/Ben93kie/SeaDronesSee" TargetMode="External"/><Relationship Id="rId40" Type="http://schemas.openxmlformats.org/officeDocument/2006/relationships/hyperlink" Target="https://github.com/Ben93kie/SeaDronesSee" TargetMode="External"/><Relationship Id="rId41" Type="http://schemas.openxmlformats.org/officeDocument/2006/relationships/hyperlink" Target="https://marinecadastre.gov/ais/" TargetMode="External"/><Relationship Id="rId42" Type="http://schemas.openxmlformats.org/officeDocument/2006/relationships/hyperlink" Target="https://marinecadastre.gov/ais/" TargetMode="External"/><Relationship Id="rId43" Type="http://schemas.openxmlformats.org/officeDocument/2006/relationships/hyperlink" Target="https://www.ndbc.noaa.gov/" TargetMode="External"/><Relationship Id="rId44" Type="http://schemas.openxmlformats.org/officeDocument/2006/relationships/hyperlink" Target="https://www.ndbc.noaa.gov/" TargetMode="External"/><Relationship Id="rId45" Type="http://schemas.openxmlformats.org/officeDocument/2006/relationships/hyperlink" Target="https://data.marine.copernicus.eu/" TargetMode="External"/><Relationship Id="rId46" Type="http://schemas.openxmlformats.org/officeDocument/2006/relationships/hyperlink" Target="https://data.marine.copernicus.eu/" TargetMode="External"/><Relationship Id="rId47" Type="http://schemas.openxmlformats.org/officeDocument/2006/relationships/hyperlink" Target="https://www.gebco.net/" TargetMode="External"/><Relationship Id="rId48" Type="http://schemas.openxmlformats.org/officeDocument/2006/relationships/hyperlink" Target="https://www.gebco.net/" TargetMode="External"/><Relationship Id="rId49" Type="http://schemas.openxmlformats.org/officeDocument/2006/relationships/hyperlink" Target="https://emodnet.ec.europa.eu/en/bathymetry" TargetMode="External"/><Relationship Id="rId50" Type="http://schemas.openxmlformats.org/officeDocument/2006/relationships/hyperlink" Target="https://emodnet.ec.europa.eu/en/bathymetry" TargetMode="External"/><Relationship Id="rId51" Type="http://schemas.openxmlformats.org/officeDocument/2006/relationships/hyperlink" Target="https://github.com/osrf/vrx" TargetMode="External"/><Relationship Id="rId52" Type="http://schemas.openxmlformats.org/officeDocument/2006/relationships/hyperlink" Target="https://github.com/osrf/vrx" TargetMode="External"/><Relationship Id="rId53" Type="http://schemas.openxmlformats.org/officeDocument/2006/relationships/hyperlink" Target="https://github.com/osrf/vrx/wiki" TargetMode="External"/><Relationship Id="rId54" Type="http://schemas.openxmlformats.org/officeDocument/2006/relationships/hyperlink" Target="https://github.com/osrf/vrx/wiki" TargetMode="External"/><Relationship Id="rId55" Type="http://schemas.openxmlformats.org/officeDocument/2006/relationships/hyperlink" Target="https://gazebosim.org/" TargetMode="External"/><Relationship Id="rId56" Type="http://schemas.openxmlformats.org/officeDocument/2006/relationships/hyperlink" Target="https://gazebosim.org/" TargetMode="External"/><Relationship Id="rId57" Type="http://schemas.openxmlformats.org/officeDocument/2006/relationships/slideLayout" Target="../slideLayouts/slideLayout1.xml"/><Relationship Id="rId58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6;p3" descr="assets/swarm_front.jpeg"/>
          <p:cNvPicPr/>
          <p:nvPr/>
        </p:nvPicPr>
        <p:blipFill>
          <a:blip r:embed="rId1"/>
          <a:stretch/>
        </p:blipFill>
        <p:spPr>
          <a:xfrm>
            <a:off x="6446520" y="0"/>
            <a:ext cx="57420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Google Shape;17;p3"/>
          <p:cNvSpPr/>
          <p:nvPr/>
        </p:nvSpPr>
        <p:spPr>
          <a:xfrm>
            <a:off x="6446520" y="0"/>
            <a:ext cx="1279800" cy="6857640"/>
          </a:xfrm>
          <a:prstGeom prst="rect">
            <a:avLst/>
          </a:prstGeom>
          <a:solidFill>
            <a:srgbClr val="0B2545">
              <a:alpha val="8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Google Shape;18;p3"/>
          <p:cNvSpPr/>
          <p:nvPr/>
        </p:nvSpPr>
        <p:spPr>
          <a:xfrm>
            <a:off x="0" y="0"/>
            <a:ext cx="6446160" cy="6857640"/>
          </a:xfrm>
          <a:prstGeom prst="rect">
            <a:avLst/>
          </a:prstGeom>
          <a:solidFill>
            <a:srgbClr val="0B254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Google Shape;19;p3"/>
          <p:cNvSpPr/>
          <p:nvPr/>
        </p:nvSpPr>
        <p:spPr>
          <a:xfrm>
            <a:off x="640080" y="640080"/>
            <a:ext cx="5577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6B35"/>
                </a:solidFill>
                <a:effectLst/>
                <a:uFillTx/>
                <a:latin typeface="Calibri"/>
                <a:ea typeface="Calibri"/>
              </a:rPr>
              <a:t>CA</a:t>
            </a:r>
            <a:r>
              <a:rPr lang="en-US" sz="1200" b="1" u="none" strike="noStrike">
                <a:solidFill>
                  <a:srgbClr val="FF6B35"/>
                </a:solidFill>
                <a:effectLst/>
                <a:uFillTx/>
                <a:latin typeface="Calibri"/>
                <a:ea typeface="Calibri"/>
              </a:rPr>
              <a:t>PST</a:t>
            </a:r>
            <a:r>
              <a:rPr lang="en-US" sz="1200" b="1" u="none" strike="noStrike">
                <a:solidFill>
                  <a:srgbClr val="FF6B35"/>
                </a:solidFill>
                <a:effectLst/>
                <a:uFillTx/>
                <a:latin typeface="Calibri"/>
                <a:ea typeface="Calibri"/>
              </a:rPr>
              <a:t>ON</a:t>
            </a:r>
            <a:r>
              <a:rPr lang="en-US" sz="1200" b="1" u="none" strike="noStrike">
                <a:solidFill>
                  <a:srgbClr val="FF6B35"/>
                </a:solidFill>
                <a:effectLst/>
                <a:uFillTx/>
                <a:latin typeface="Calibri"/>
                <a:ea typeface="Calibri"/>
              </a:rPr>
              <a:t>E </a:t>
            </a:r>
            <a:r>
              <a:rPr lang="en-US" sz="1200" b="1" u="none" strike="noStrike">
                <a:solidFill>
                  <a:srgbClr val="FF6B35"/>
                </a:solidFill>
                <a:effectLst/>
                <a:uFillTx/>
                <a:latin typeface="Calibri"/>
                <a:ea typeface="Calibri"/>
              </a:rPr>
              <a:t>PR</a:t>
            </a:r>
            <a:r>
              <a:rPr lang="en-US" sz="1200" b="1" u="none" strike="noStrike">
                <a:solidFill>
                  <a:srgbClr val="FF6B35"/>
                </a:solidFill>
                <a:effectLst/>
                <a:uFillTx/>
                <a:latin typeface="Calibri"/>
                <a:ea typeface="Calibri"/>
              </a:rPr>
              <a:t>OJE</a:t>
            </a:r>
            <a:r>
              <a:rPr lang="en-US" sz="1200" b="1" u="none" strike="noStrike">
                <a:solidFill>
                  <a:srgbClr val="FF6B35"/>
                </a:solidFill>
                <a:effectLst/>
                <a:uFillTx/>
                <a:latin typeface="Calibri"/>
                <a:ea typeface="Calibri"/>
              </a:rPr>
              <a:t>CT </a:t>
            </a:r>
            <a:r>
              <a:rPr lang="en-US" sz="1200" b="1" u="none" strike="noStrike">
                <a:solidFill>
                  <a:srgbClr val="FF6B35"/>
                </a:solidFill>
                <a:effectLst/>
                <a:uFillTx/>
                <a:latin typeface="Calibri"/>
                <a:ea typeface="Calibri"/>
              </a:rPr>
              <a:t>PR</a:t>
            </a:r>
            <a:r>
              <a:rPr lang="en-US" sz="1200" b="1" u="none" strike="noStrike">
                <a:solidFill>
                  <a:srgbClr val="FF6B35"/>
                </a:solidFill>
                <a:effectLst/>
                <a:uFillTx/>
                <a:latin typeface="Calibri"/>
                <a:ea typeface="Calibri"/>
              </a:rPr>
              <a:t>OP</a:t>
            </a:r>
            <a:r>
              <a:rPr lang="en-US" sz="1200" b="1" u="none" strike="noStrike">
                <a:solidFill>
                  <a:srgbClr val="FF6B35"/>
                </a:solidFill>
                <a:effectLst/>
                <a:uFillTx/>
                <a:latin typeface="Calibri"/>
                <a:ea typeface="Calibri"/>
              </a:rPr>
              <a:t>OS</a:t>
            </a:r>
            <a:r>
              <a:rPr lang="en-US" sz="1200" b="1" u="none" strike="noStrike">
                <a:solidFill>
                  <a:srgbClr val="FF6B35"/>
                </a:solidFill>
                <a:effectLst/>
                <a:uFillTx/>
                <a:latin typeface="Calibri"/>
                <a:ea typeface="Calibri"/>
              </a:rPr>
              <a:t>AL   </a:t>
            </a:r>
            <a:r>
              <a:rPr lang="en-US" sz="1200" b="1" u="none" strike="noStrike">
                <a:solidFill>
                  <a:srgbClr val="FF6B35"/>
                </a:solidFill>
                <a:effectLst/>
                <a:uFillTx/>
                <a:latin typeface="Calibri"/>
                <a:ea typeface="Calibri"/>
              </a:rPr>
              <a:t>•   </a:t>
            </a:r>
            <a:r>
              <a:rPr lang="en-US" sz="1200" b="1" u="none" strike="noStrike">
                <a:solidFill>
                  <a:srgbClr val="FF6B35"/>
                </a:solidFill>
                <a:effectLst/>
                <a:uFillTx/>
                <a:latin typeface="Calibri"/>
                <a:ea typeface="Calibri"/>
              </a:rPr>
              <a:t>AI </a:t>
            </a:r>
            <a:r>
              <a:rPr lang="en-US" sz="1200" b="1" u="none" strike="noStrike">
                <a:solidFill>
                  <a:srgbClr val="FF6B35"/>
                </a:solidFill>
                <a:effectLst/>
                <a:uFillTx/>
                <a:latin typeface="Calibri"/>
                <a:ea typeface="Calibri"/>
              </a:rPr>
              <a:t>&amp; </a:t>
            </a:r>
            <a:r>
              <a:rPr lang="en-US" sz="1200" b="1" u="none" strike="noStrike">
                <a:solidFill>
                  <a:srgbClr val="FF6B35"/>
                </a:solidFill>
                <a:effectLst/>
                <a:uFillTx/>
                <a:latin typeface="Calibri"/>
                <a:ea typeface="Calibri"/>
              </a:rPr>
              <a:t>AU</a:t>
            </a:r>
            <a:r>
              <a:rPr lang="en-US" sz="1200" b="1" u="none" strike="noStrike">
                <a:solidFill>
                  <a:srgbClr val="FF6B35"/>
                </a:solidFill>
                <a:effectLst/>
                <a:uFillTx/>
                <a:latin typeface="Calibri"/>
                <a:ea typeface="Calibri"/>
              </a:rPr>
              <a:t>TO</a:t>
            </a:r>
            <a:r>
              <a:rPr lang="en-US" sz="1200" b="1" u="none" strike="noStrike">
                <a:solidFill>
                  <a:srgbClr val="FF6B35"/>
                </a:solidFill>
                <a:effectLst/>
                <a:uFillTx/>
                <a:latin typeface="Calibri"/>
                <a:ea typeface="Calibri"/>
              </a:rPr>
              <a:t>NO</a:t>
            </a:r>
            <a:r>
              <a:rPr lang="en-US" sz="1200" b="1" u="none" strike="noStrike">
                <a:solidFill>
                  <a:srgbClr val="FF6B35"/>
                </a:solidFill>
                <a:effectLst/>
                <a:uFillTx/>
                <a:latin typeface="Calibri"/>
                <a:ea typeface="Calibri"/>
              </a:rPr>
              <a:t>MO</a:t>
            </a:r>
            <a:r>
              <a:rPr lang="en-US" sz="1200" b="1" u="none" strike="noStrike">
                <a:solidFill>
                  <a:srgbClr val="FF6B35"/>
                </a:solidFill>
                <a:effectLst/>
                <a:uFillTx/>
                <a:latin typeface="Calibri"/>
                <a:ea typeface="Calibri"/>
              </a:rPr>
              <a:t>US </a:t>
            </a:r>
            <a:r>
              <a:rPr lang="en-US" sz="1200" b="1" u="none" strike="noStrike">
                <a:solidFill>
                  <a:srgbClr val="FF6B35"/>
                </a:solidFill>
                <a:effectLst/>
                <a:uFillTx/>
                <a:latin typeface="Calibri"/>
                <a:ea typeface="Calibri"/>
              </a:rPr>
              <a:t>RO</a:t>
            </a:r>
            <a:r>
              <a:rPr lang="en-US" sz="1200" b="1" u="none" strike="noStrike">
                <a:solidFill>
                  <a:srgbClr val="FF6B35"/>
                </a:solidFill>
                <a:effectLst/>
                <a:uFillTx/>
                <a:latin typeface="Calibri"/>
                <a:ea typeface="Calibri"/>
              </a:rPr>
              <a:t>BO</a:t>
            </a:r>
            <a:r>
              <a:rPr lang="en-US" sz="1200" b="1" u="none" strike="noStrike">
                <a:solidFill>
                  <a:srgbClr val="FF6B35"/>
                </a:solidFill>
                <a:effectLst/>
                <a:uFillTx/>
                <a:latin typeface="Calibri"/>
                <a:ea typeface="Calibri"/>
              </a:rPr>
              <a:t>TIC</a:t>
            </a:r>
            <a:r>
              <a:rPr lang="en-US" sz="1200" b="1" u="none" strike="noStrike">
                <a:solidFill>
                  <a:srgbClr val="FF6B35"/>
                </a:solidFill>
                <a:effectLst/>
                <a:uFillTx/>
                <a:latin typeface="Calibri"/>
                <a:ea typeface="Calibri"/>
              </a:rPr>
              <a:t>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Google Shape;20;p3"/>
          <p:cNvSpPr/>
          <p:nvPr/>
        </p:nvSpPr>
        <p:spPr>
          <a:xfrm>
            <a:off x="548640" y="1576440"/>
            <a:ext cx="5760360" cy="196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Agentic </a:t>
            </a: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Self-</a:t>
            </a: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Healing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Marine </a:t>
            </a: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Drone </a:t>
            </a: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Swarm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Google Shape;21;p3"/>
          <p:cNvSpPr/>
          <p:nvPr/>
        </p:nvSpPr>
        <p:spPr>
          <a:xfrm>
            <a:off x="685800" y="3542040"/>
            <a:ext cx="5486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3000"/>
              </a:lnSpc>
              <a:tabLst>
                <a:tab pos="0" algn="l"/>
              </a:tabLst>
            </a:pPr>
            <a:r>
              <a:rPr lang="en-US" sz="1500" b="0" i="1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Fault-aware cooperative </a:t>
            </a:r>
            <a:r>
              <a:rPr lang="en-US" sz="1500" b="0" i="1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detection, tracking and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3000"/>
              </a:lnSpc>
              <a:tabLst>
                <a:tab pos="0" algn="l"/>
              </a:tabLst>
            </a:pPr>
            <a:r>
              <a:rPr lang="en-US" sz="1500" b="0" i="1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non-destructive </a:t>
            </a:r>
            <a:r>
              <a:rPr lang="en-US" sz="1500" b="0" i="1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interception for USV </a:t>
            </a:r>
            <a:r>
              <a:rPr lang="en-US" sz="1500" b="0" i="1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swarms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Google Shape;22;p3"/>
          <p:cNvSpPr/>
          <p:nvPr/>
        </p:nvSpPr>
        <p:spPr>
          <a:xfrm>
            <a:off x="640080" y="5257800"/>
            <a:ext cx="5211720" cy="1234080"/>
          </a:xfrm>
          <a:prstGeom prst="rect">
            <a:avLst/>
          </a:prstGeom>
          <a:solidFill>
            <a:srgbClr val="1331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Google Shape;23;p3"/>
          <p:cNvSpPr/>
          <p:nvPr/>
        </p:nvSpPr>
        <p:spPr>
          <a:xfrm>
            <a:off x="640080" y="5394960"/>
            <a:ext cx="17370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Suchet Kumbar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Google Shape;24;p3"/>
          <p:cNvSpPr/>
          <p:nvPr/>
        </p:nvSpPr>
        <p:spPr>
          <a:xfrm>
            <a:off x="631800" y="5779080"/>
            <a:ext cx="1737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9FB8D1"/>
                </a:solidFill>
                <a:effectLst/>
                <a:uFillTx/>
                <a:latin typeface="Calibri"/>
                <a:ea typeface="Calibri"/>
              </a:rPr>
              <a:t>23BRS1073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Google Shape;25;p3"/>
          <p:cNvSpPr/>
          <p:nvPr/>
        </p:nvSpPr>
        <p:spPr>
          <a:xfrm>
            <a:off x="2377440" y="5394960"/>
            <a:ext cx="17370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Sid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dh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art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h 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Set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h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Google Shape;26;p3"/>
          <p:cNvSpPr/>
          <p:nvPr/>
        </p:nvSpPr>
        <p:spPr>
          <a:xfrm>
            <a:off x="2377440" y="5779080"/>
            <a:ext cx="1737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9FB8D1"/>
                </a:solidFill>
                <a:effectLst/>
                <a:uFillTx/>
                <a:latin typeface="Calibri"/>
                <a:ea typeface="Calibri"/>
              </a:rPr>
              <a:t>23BRS1038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21" name="Google Shape;27;p3"/>
          <p:cNvCxnSpPr/>
          <p:nvPr/>
        </p:nvCxnSpPr>
        <p:spPr>
          <a:xfrm>
            <a:off x="2377440" y="5440680"/>
            <a:ext cx="360" cy="823320"/>
          </a:xfrm>
          <a:prstGeom prst="straightConnector1">
            <a:avLst/>
          </a:prstGeom>
          <a:ln w="12700">
            <a:solidFill>
              <a:srgbClr val="2B4A70"/>
            </a:solidFill>
            <a:round/>
          </a:ln>
        </p:spPr>
      </p:cxnSp>
      <p:sp>
        <p:nvSpPr>
          <p:cNvPr id="22" name="Google Shape;28;p3"/>
          <p:cNvSpPr/>
          <p:nvPr/>
        </p:nvSpPr>
        <p:spPr>
          <a:xfrm>
            <a:off x="4114800" y="5394960"/>
            <a:ext cx="17370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Pritish Bhatasana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Google Shape;29;p3"/>
          <p:cNvSpPr/>
          <p:nvPr/>
        </p:nvSpPr>
        <p:spPr>
          <a:xfrm>
            <a:off x="4114800" y="5779080"/>
            <a:ext cx="1737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9FB8D1"/>
                </a:solidFill>
                <a:effectLst/>
                <a:uFillTx/>
                <a:latin typeface="Calibri"/>
                <a:ea typeface="Calibri"/>
              </a:rPr>
              <a:t>23B</a:t>
            </a:r>
            <a:r>
              <a:rPr lang="en-US" sz="1150" b="0" u="none" strike="noStrike">
                <a:solidFill>
                  <a:srgbClr val="9FB8D1"/>
                </a:solidFill>
                <a:effectLst/>
                <a:uFillTx/>
                <a:latin typeface="Calibri"/>
                <a:ea typeface="Calibri"/>
              </a:rPr>
              <a:t>RS1</a:t>
            </a:r>
            <a:r>
              <a:rPr lang="en-US" sz="1150" b="0" u="none" strike="noStrike">
                <a:solidFill>
                  <a:srgbClr val="9FB8D1"/>
                </a:solidFill>
                <a:effectLst/>
                <a:uFillTx/>
                <a:latin typeface="Calibri"/>
                <a:ea typeface="Calibri"/>
              </a:rPr>
              <a:t>035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24" name="Google Shape;30;p3"/>
          <p:cNvCxnSpPr/>
          <p:nvPr/>
        </p:nvCxnSpPr>
        <p:spPr>
          <a:xfrm>
            <a:off x="4114800" y="5440680"/>
            <a:ext cx="360" cy="823320"/>
          </a:xfrm>
          <a:prstGeom prst="straightConnector1">
            <a:avLst/>
          </a:prstGeom>
          <a:ln w="12700">
            <a:solidFill>
              <a:srgbClr val="2B4A70"/>
            </a:solidFill>
            <a:round/>
          </a:ln>
        </p:spPr>
      </p:cxnSp>
      <p:sp>
        <p:nvSpPr>
          <p:cNvPr id="25" name="Google Shape;31;p3"/>
          <p:cNvSpPr/>
          <p:nvPr/>
        </p:nvSpPr>
        <p:spPr>
          <a:xfrm>
            <a:off x="640080" y="658368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C7A99"/>
                </a:solidFill>
                <a:effectLst/>
                <a:uFillTx/>
                <a:latin typeface="Calibri"/>
                <a:ea typeface="Calibri"/>
              </a:rPr>
              <a:t>Simulation-first research proposal   |   17 July 2026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Google Shape;32;p3"/>
          <p:cNvSpPr/>
          <p:nvPr/>
        </p:nvSpPr>
        <p:spPr>
          <a:xfrm>
            <a:off x="6537960" y="6583680"/>
            <a:ext cx="5486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7C93AB"/>
                </a:solidFill>
                <a:effectLst/>
                <a:uFillTx/>
                <a:latin typeface="Calibri"/>
                <a:ea typeface="Calibri"/>
              </a:rPr>
              <a:t>Image: Johns Hopkins APL, Swarming USVs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Google Shape;33;p3"/>
          <p:cNvSpPr/>
          <p:nvPr/>
        </p:nvSpPr>
        <p:spPr>
          <a:xfrm>
            <a:off x="685800" y="4468680"/>
            <a:ext cx="5486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3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Guide: Dr. Linda Joseph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39;p4"/>
          <p:cNvSpPr/>
          <p:nvPr/>
        </p:nvSpPr>
        <p:spPr>
          <a:xfrm>
            <a:off x="640080" y="502920"/>
            <a:ext cx="4571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PRESENTATION FLOW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Google Shape;40;p4"/>
          <p:cNvSpPr/>
          <p:nvPr/>
        </p:nvSpPr>
        <p:spPr>
          <a:xfrm>
            <a:off x="594360" y="777240"/>
            <a:ext cx="7314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0B2545"/>
                </a:solidFill>
                <a:effectLst/>
                <a:uFillTx/>
                <a:latin typeface="Cambria"/>
                <a:ea typeface="Cambria"/>
              </a:rPr>
              <a:t>What we'll cover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Google Shape;41;p4"/>
          <p:cNvSpPr/>
          <p:nvPr/>
        </p:nvSpPr>
        <p:spPr>
          <a:xfrm>
            <a:off x="640080" y="1783080"/>
            <a:ext cx="2624040" cy="1599840"/>
          </a:xfrm>
          <a:prstGeom prst="roundRect">
            <a:avLst>
              <a:gd name="adj" fmla="val 1800"/>
            </a:avLst>
          </a:prstGeom>
          <a:solidFill>
            <a:srgbClr val="F5F8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Google Shape;42;p4"/>
          <p:cNvSpPr/>
          <p:nvPr/>
        </p:nvSpPr>
        <p:spPr>
          <a:xfrm>
            <a:off x="822960" y="1965960"/>
            <a:ext cx="502560" cy="50256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2" name="Google Shape;43;p4" descr="icons/search_FFFFFF.png"/>
          <p:cNvPicPr/>
          <p:nvPr/>
        </p:nvPicPr>
        <p:blipFill>
          <a:blip r:embed="rId1"/>
          <a:stretch/>
        </p:blipFill>
        <p:spPr>
          <a:xfrm>
            <a:off x="937440" y="208044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" name="Google Shape;44;p4"/>
          <p:cNvSpPr/>
          <p:nvPr/>
        </p:nvSpPr>
        <p:spPr>
          <a:xfrm>
            <a:off x="2853000" y="192024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C3D2DE"/>
                </a:solidFill>
                <a:effectLst/>
                <a:uFillTx/>
                <a:latin typeface="Calibri"/>
                <a:ea typeface="Calibri"/>
              </a:rPr>
              <a:t>01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Google Shape;45;p4"/>
          <p:cNvSpPr/>
          <p:nvPr/>
        </p:nvSpPr>
        <p:spPr>
          <a:xfrm>
            <a:off x="822960" y="2560320"/>
            <a:ext cx="22582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B2545"/>
                </a:solidFill>
                <a:effectLst/>
                <a:uFillTx/>
                <a:latin typeface="Calibri"/>
                <a:ea typeface="Calibri"/>
              </a:rPr>
              <a:t>Problem &amp; Fault Taxonomy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Google Shape;46;p4"/>
          <p:cNvSpPr/>
          <p:nvPr/>
        </p:nvSpPr>
        <p:spPr>
          <a:xfrm>
            <a:off x="822960" y="2746440"/>
            <a:ext cx="22582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1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44586E"/>
                </a:solidFill>
                <a:effectLst/>
                <a:uFillTx/>
                <a:latin typeface="Calibri"/>
                <a:ea typeface="Calibri"/>
              </a:rPr>
              <a:t>Why swarm autonomy breaks — and what breaks it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Google Shape;47;p4"/>
          <p:cNvSpPr/>
          <p:nvPr/>
        </p:nvSpPr>
        <p:spPr>
          <a:xfrm>
            <a:off x="3401640" y="1783080"/>
            <a:ext cx="2624040" cy="1599840"/>
          </a:xfrm>
          <a:prstGeom prst="roundRect">
            <a:avLst>
              <a:gd name="adj" fmla="val 1800"/>
            </a:avLst>
          </a:prstGeom>
          <a:solidFill>
            <a:srgbClr val="F5F8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Google Shape;48;p4"/>
          <p:cNvSpPr/>
          <p:nvPr/>
        </p:nvSpPr>
        <p:spPr>
          <a:xfrm>
            <a:off x="3584520" y="1965960"/>
            <a:ext cx="502560" cy="502560"/>
          </a:xfrm>
          <a:prstGeom prst="ellipse">
            <a:avLst/>
          </a:prstGeom>
          <a:solidFill>
            <a:srgbClr val="FF6B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8" name="Google Shape;49;p4" descr="icons/book_FFFFFF.png"/>
          <p:cNvPicPr/>
          <p:nvPr/>
        </p:nvPicPr>
        <p:blipFill>
          <a:blip r:embed="rId2"/>
          <a:stretch/>
        </p:blipFill>
        <p:spPr>
          <a:xfrm>
            <a:off x="3698640" y="208044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" name="Google Shape;50;p4"/>
          <p:cNvSpPr/>
          <p:nvPr/>
        </p:nvSpPr>
        <p:spPr>
          <a:xfrm>
            <a:off x="5614560" y="192024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C3D2DE"/>
                </a:solidFill>
                <a:effectLst/>
                <a:uFillTx/>
                <a:latin typeface="Calibri"/>
                <a:ea typeface="Calibri"/>
              </a:rPr>
              <a:t>02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Google Shape;51;p4"/>
          <p:cNvSpPr/>
          <p:nvPr/>
        </p:nvSpPr>
        <p:spPr>
          <a:xfrm>
            <a:off x="3584520" y="2560320"/>
            <a:ext cx="22582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B2545"/>
                </a:solidFill>
                <a:effectLst/>
                <a:uFillTx/>
                <a:latin typeface="Calibri"/>
                <a:ea typeface="Calibri"/>
              </a:rPr>
              <a:t>Existing Work &amp; Research Gap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Google Shape;52;p4"/>
          <p:cNvSpPr/>
          <p:nvPr/>
        </p:nvSpPr>
        <p:spPr>
          <a:xfrm>
            <a:off x="3584520" y="2651760"/>
            <a:ext cx="22582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1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44586E"/>
                </a:solidFill>
                <a:effectLst/>
                <a:uFillTx/>
                <a:latin typeface="Calibri"/>
                <a:ea typeface="Calibri"/>
              </a:rPr>
              <a:t>State of the art, and the gap it leaves open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Google Shape;53;p4"/>
          <p:cNvSpPr/>
          <p:nvPr/>
        </p:nvSpPr>
        <p:spPr>
          <a:xfrm>
            <a:off x="6163200" y="1783080"/>
            <a:ext cx="2624040" cy="1599840"/>
          </a:xfrm>
          <a:prstGeom prst="roundRect">
            <a:avLst>
              <a:gd name="adj" fmla="val 1800"/>
            </a:avLst>
          </a:prstGeom>
          <a:solidFill>
            <a:srgbClr val="F5F8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Google Shape;54;p4"/>
          <p:cNvSpPr/>
          <p:nvPr/>
        </p:nvSpPr>
        <p:spPr>
          <a:xfrm>
            <a:off x="6346080" y="1965960"/>
            <a:ext cx="502560" cy="50256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4" name="Google Shape;55;p4" descr="icons/grad_FFFFFF.png"/>
          <p:cNvPicPr/>
          <p:nvPr/>
        </p:nvPicPr>
        <p:blipFill>
          <a:blip r:embed="rId3"/>
          <a:stretch/>
        </p:blipFill>
        <p:spPr>
          <a:xfrm>
            <a:off x="6460200" y="208044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" name="Google Shape;56;p4"/>
          <p:cNvSpPr/>
          <p:nvPr/>
        </p:nvSpPr>
        <p:spPr>
          <a:xfrm>
            <a:off x="8375760" y="192024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C3D2DE"/>
                </a:solidFill>
                <a:effectLst/>
                <a:uFillTx/>
                <a:latin typeface="Calibri"/>
                <a:ea typeface="Calibri"/>
              </a:rPr>
              <a:t>03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Google Shape;57;p4"/>
          <p:cNvSpPr/>
          <p:nvPr/>
        </p:nvSpPr>
        <p:spPr>
          <a:xfrm>
            <a:off x="6346080" y="2560320"/>
            <a:ext cx="22582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B2545"/>
                </a:solidFill>
                <a:effectLst/>
                <a:uFillTx/>
                <a:latin typeface="Calibri"/>
                <a:ea typeface="Calibri"/>
              </a:rPr>
              <a:t>Literature Review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Google Shape;58;p4"/>
          <p:cNvSpPr/>
          <p:nvPr/>
        </p:nvSpPr>
        <p:spPr>
          <a:xfrm>
            <a:off x="6345720" y="2720520"/>
            <a:ext cx="22582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1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44586E"/>
                </a:solidFill>
                <a:effectLst/>
                <a:uFillTx/>
                <a:latin typeface="Calibri"/>
                <a:ea typeface="Calibri"/>
              </a:rPr>
              <a:t>15 papers, systematically reviewed and tabulated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Google Shape;59;p4"/>
          <p:cNvSpPr/>
          <p:nvPr/>
        </p:nvSpPr>
        <p:spPr>
          <a:xfrm>
            <a:off x="8924400" y="1783080"/>
            <a:ext cx="2624040" cy="1599840"/>
          </a:xfrm>
          <a:prstGeom prst="roundRect">
            <a:avLst>
              <a:gd name="adj" fmla="val 1800"/>
            </a:avLst>
          </a:prstGeom>
          <a:solidFill>
            <a:srgbClr val="F5F8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Google Shape;60;p4"/>
          <p:cNvSpPr/>
          <p:nvPr/>
        </p:nvSpPr>
        <p:spPr>
          <a:xfrm>
            <a:off x="9107280" y="1965960"/>
            <a:ext cx="502560" cy="502560"/>
          </a:xfrm>
          <a:prstGeom prst="ellipse">
            <a:avLst/>
          </a:prstGeom>
          <a:solidFill>
            <a:srgbClr val="FF6B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0" name="Google Shape;61;p4" descr="icons/target_FFFFFF.png"/>
          <p:cNvPicPr/>
          <p:nvPr/>
        </p:nvPicPr>
        <p:blipFill>
          <a:blip r:embed="rId4"/>
          <a:stretch/>
        </p:blipFill>
        <p:spPr>
          <a:xfrm>
            <a:off x="9221760" y="208044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" name="Google Shape;62;p4"/>
          <p:cNvSpPr/>
          <p:nvPr/>
        </p:nvSpPr>
        <p:spPr>
          <a:xfrm>
            <a:off x="11137320" y="192024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C3D2DE"/>
                </a:solidFill>
                <a:effectLst/>
                <a:uFillTx/>
                <a:latin typeface="Calibri"/>
                <a:ea typeface="Calibri"/>
              </a:rPr>
              <a:t>04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Google Shape;63;p4"/>
          <p:cNvSpPr/>
          <p:nvPr/>
        </p:nvSpPr>
        <p:spPr>
          <a:xfrm>
            <a:off x="9107280" y="2560320"/>
            <a:ext cx="22582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B2545"/>
                </a:solidFill>
                <a:effectLst/>
                <a:uFillTx/>
                <a:latin typeface="Calibri"/>
                <a:ea typeface="Calibri"/>
              </a:rPr>
              <a:t>Objectives &amp; Scope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Google Shape;64;p4"/>
          <p:cNvSpPr/>
          <p:nvPr/>
        </p:nvSpPr>
        <p:spPr>
          <a:xfrm>
            <a:off x="9107280" y="2720520"/>
            <a:ext cx="22582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1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44586E"/>
                </a:solidFill>
                <a:effectLst/>
                <a:uFillTx/>
                <a:latin typeface="Calibri"/>
                <a:ea typeface="Calibri"/>
              </a:rPr>
              <a:t>What we will build, and the boundaries around it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Google Shape;65;p4"/>
          <p:cNvSpPr/>
          <p:nvPr/>
        </p:nvSpPr>
        <p:spPr>
          <a:xfrm>
            <a:off x="640080" y="3566160"/>
            <a:ext cx="2624040" cy="1599840"/>
          </a:xfrm>
          <a:prstGeom prst="roundRect">
            <a:avLst>
              <a:gd name="adj" fmla="val 1800"/>
            </a:avLst>
          </a:prstGeom>
          <a:solidFill>
            <a:srgbClr val="F5F8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Google Shape;66;p4"/>
          <p:cNvSpPr/>
          <p:nvPr/>
        </p:nvSpPr>
        <p:spPr>
          <a:xfrm>
            <a:off x="822960" y="3749040"/>
            <a:ext cx="502560" cy="50256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6" name="Google Shape;67;p4" descr="icons/diagram_FFFFFF.png"/>
          <p:cNvPicPr/>
          <p:nvPr/>
        </p:nvPicPr>
        <p:blipFill>
          <a:blip r:embed="rId5"/>
          <a:stretch/>
        </p:blipFill>
        <p:spPr>
          <a:xfrm>
            <a:off x="937440" y="386352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" name="Google Shape;68;p4"/>
          <p:cNvSpPr/>
          <p:nvPr/>
        </p:nvSpPr>
        <p:spPr>
          <a:xfrm>
            <a:off x="2853000" y="370332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C3D2DE"/>
                </a:solidFill>
                <a:effectLst/>
                <a:uFillTx/>
                <a:latin typeface="Calibri"/>
                <a:ea typeface="Calibri"/>
              </a:rPr>
              <a:t>05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Google Shape;69;p4"/>
          <p:cNvSpPr/>
          <p:nvPr/>
        </p:nvSpPr>
        <p:spPr>
          <a:xfrm>
            <a:off x="822960" y="4343400"/>
            <a:ext cx="22582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B2545"/>
                </a:solidFill>
                <a:effectLst/>
                <a:uFillTx/>
                <a:latin typeface="Calibri"/>
                <a:ea typeface="Calibri"/>
              </a:rPr>
              <a:t>Proposed Solution &amp; Novelty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Google Shape;70;p4"/>
          <p:cNvSpPr/>
          <p:nvPr/>
        </p:nvSpPr>
        <p:spPr>
          <a:xfrm>
            <a:off x="822960" y="4434840"/>
            <a:ext cx="22582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1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44586E"/>
                </a:solidFill>
                <a:effectLst/>
                <a:uFillTx/>
                <a:latin typeface="Calibri"/>
                <a:ea typeface="Calibri"/>
              </a:rPr>
              <a:t>An agentic, fault-aware recovery loop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Google Shape;71;p4"/>
          <p:cNvSpPr/>
          <p:nvPr/>
        </p:nvSpPr>
        <p:spPr>
          <a:xfrm>
            <a:off x="3401640" y="3566160"/>
            <a:ext cx="2624040" cy="1599840"/>
          </a:xfrm>
          <a:prstGeom prst="roundRect">
            <a:avLst>
              <a:gd name="adj" fmla="val 1800"/>
            </a:avLst>
          </a:prstGeom>
          <a:solidFill>
            <a:srgbClr val="F5F8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Google Shape;72;p4"/>
          <p:cNvSpPr/>
          <p:nvPr/>
        </p:nvSpPr>
        <p:spPr>
          <a:xfrm>
            <a:off x="3584520" y="3749040"/>
            <a:ext cx="502560" cy="502560"/>
          </a:xfrm>
          <a:prstGeom prst="ellipse">
            <a:avLst/>
          </a:prstGeom>
          <a:solidFill>
            <a:srgbClr val="FF6B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2" name="Google Shape;73;p4" descr="icons/bulb_FFFFFF.png"/>
          <p:cNvPicPr/>
          <p:nvPr/>
        </p:nvPicPr>
        <p:blipFill>
          <a:blip r:embed="rId6"/>
          <a:stretch/>
        </p:blipFill>
        <p:spPr>
          <a:xfrm>
            <a:off x="3698640" y="386352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Google Shape;74;p4"/>
          <p:cNvSpPr/>
          <p:nvPr/>
        </p:nvSpPr>
        <p:spPr>
          <a:xfrm>
            <a:off x="5614560" y="370332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C3D2DE"/>
                </a:solidFill>
                <a:effectLst/>
                <a:uFillTx/>
                <a:latin typeface="Calibri"/>
                <a:ea typeface="Calibri"/>
              </a:rPr>
              <a:t>06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Google Shape;75;p4"/>
          <p:cNvSpPr/>
          <p:nvPr/>
        </p:nvSpPr>
        <p:spPr>
          <a:xfrm>
            <a:off x="3584520" y="4343400"/>
            <a:ext cx="22582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B2545"/>
                </a:solidFill>
                <a:effectLst/>
                <a:uFillTx/>
                <a:latin typeface="Calibri"/>
                <a:ea typeface="Calibri"/>
              </a:rPr>
              <a:t>Applications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Google Shape;76;p4"/>
          <p:cNvSpPr/>
          <p:nvPr/>
        </p:nvSpPr>
        <p:spPr>
          <a:xfrm>
            <a:off x="3584520" y="4434840"/>
            <a:ext cx="22582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1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44586E"/>
                </a:solidFill>
                <a:effectLst/>
                <a:uFillTx/>
                <a:latin typeface="Calibri"/>
                <a:ea typeface="Calibri"/>
              </a:rPr>
              <a:t>Where a self-healing marine swarm matters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Google Shape;77;p4"/>
          <p:cNvSpPr/>
          <p:nvPr/>
        </p:nvSpPr>
        <p:spPr>
          <a:xfrm>
            <a:off x="6163200" y="3566160"/>
            <a:ext cx="2624040" cy="1599840"/>
          </a:xfrm>
          <a:prstGeom prst="roundRect">
            <a:avLst>
              <a:gd name="adj" fmla="val 1800"/>
            </a:avLst>
          </a:prstGeom>
          <a:solidFill>
            <a:srgbClr val="F5F8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Google Shape;78;p4"/>
          <p:cNvSpPr/>
          <p:nvPr/>
        </p:nvSpPr>
        <p:spPr>
          <a:xfrm>
            <a:off x="6346080" y="3749040"/>
            <a:ext cx="502560" cy="50256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8" name="Google Shape;79;p4" descr="icons/route_FFFFFF.png"/>
          <p:cNvPicPr/>
          <p:nvPr/>
        </p:nvPicPr>
        <p:blipFill>
          <a:blip r:embed="rId7"/>
          <a:stretch/>
        </p:blipFill>
        <p:spPr>
          <a:xfrm>
            <a:off x="6460200" y="386352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" name="Google Shape;80;p4"/>
          <p:cNvSpPr/>
          <p:nvPr/>
        </p:nvSpPr>
        <p:spPr>
          <a:xfrm>
            <a:off x="8375760" y="370332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C3D2DE"/>
                </a:solidFill>
                <a:effectLst/>
                <a:uFillTx/>
                <a:latin typeface="Calibri"/>
                <a:ea typeface="Calibri"/>
              </a:rPr>
              <a:t>07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Google Shape;81;p4"/>
          <p:cNvSpPr/>
          <p:nvPr/>
        </p:nvSpPr>
        <p:spPr>
          <a:xfrm>
            <a:off x="6346080" y="4343400"/>
            <a:ext cx="22582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B2545"/>
                </a:solidFill>
                <a:effectLst/>
                <a:uFillTx/>
                <a:latin typeface="Calibri"/>
                <a:ea typeface="Calibri"/>
              </a:rPr>
              <a:t>Experimental Design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Google Shape;82;p4"/>
          <p:cNvSpPr/>
          <p:nvPr/>
        </p:nvSpPr>
        <p:spPr>
          <a:xfrm>
            <a:off x="6346080" y="4434840"/>
            <a:ext cx="22582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1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44586E"/>
                </a:solidFill>
                <a:effectLst/>
                <a:uFillTx/>
                <a:latin typeface="Calibri"/>
                <a:ea typeface="Calibri"/>
              </a:rPr>
              <a:t>A two-stage, simulation-first validation plan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Google Shape;83;p4"/>
          <p:cNvSpPr/>
          <p:nvPr/>
        </p:nvSpPr>
        <p:spPr>
          <a:xfrm>
            <a:off x="8924400" y="3566160"/>
            <a:ext cx="2624040" cy="1599840"/>
          </a:xfrm>
          <a:prstGeom prst="roundRect">
            <a:avLst>
              <a:gd name="adj" fmla="val 1800"/>
            </a:avLst>
          </a:prstGeom>
          <a:solidFill>
            <a:srgbClr val="F5F8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Google Shape;84;p4"/>
          <p:cNvSpPr/>
          <p:nvPr/>
        </p:nvSpPr>
        <p:spPr>
          <a:xfrm>
            <a:off x="9107280" y="3749040"/>
            <a:ext cx="502560" cy="502560"/>
          </a:xfrm>
          <a:prstGeom prst="ellipse">
            <a:avLst/>
          </a:prstGeom>
          <a:solidFill>
            <a:srgbClr val="FF6B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4" name="Google Shape;85;p4" descr="icons/flask_FFFFFF.png"/>
          <p:cNvPicPr/>
          <p:nvPr/>
        </p:nvPicPr>
        <p:blipFill>
          <a:blip r:embed="rId8"/>
          <a:stretch/>
        </p:blipFill>
        <p:spPr>
          <a:xfrm>
            <a:off x="9221760" y="386352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" name="Google Shape;86;p4"/>
          <p:cNvSpPr/>
          <p:nvPr/>
        </p:nvSpPr>
        <p:spPr>
          <a:xfrm>
            <a:off x="11137320" y="370332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C3D2DE"/>
                </a:solidFill>
                <a:effectLst/>
                <a:uFillTx/>
                <a:latin typeface="Calibri"/>
                <a:ea typeface="Calibri"/>
              </a:rPr>
              <a:t>08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Google Shape;87;p4"/>
          <p:cNvSpPr/>
          <p:nvPr/>
        </p:nvSpPr>
        <p:spPr>
          <a:xfrm>
            <a:off x="9107280" y="4343400"/>
            <a:ext cx="22582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B2545"/>
                </a:solidFill>
                <a:effectLst/>
                <a:uFillTx/>
                <a:latin typeface="Calibri"/>
                <a:ea typeface="Calibri"/>
              </a:rPr>
              <a:t>Feasibility, Risk &amp; Timeline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Google Shape;88;p4"/>
          <p:cNvSpPr/>
          <p:nvPr/>
        </p:nvSpPr>
        <p:spPr>
          <a:xfrm>
            <a:off x="9107640" y="4434840"/>
            <a:ext cx="22582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1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44586E"/>
                </a:solidFill>
                <a:effectLst/>
                <a:uFillTx/>
                <a:latin typeface="Calibri"/>
                <a:ea typeface="Calibri"/>
              </a:rPr>
              <a:t>A realistic 16-week, risk-aware roadmap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Google Shape;89;p4"/>
          <p:cNvSpPr/>
          <p:nvPr/>
        </p:nvSpPr>
        <p:spPr>
          <a:xfrm>
            <a:off x="11274480" y="6355080"/>
            <a:ext cx="639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C7A99"/>
                </a:solidFill>
                <a:effectLst/>
                <a:uFillTx/>
                <a:latin typeface="Calibri"/>
                <a:ea typeface="Calibri"/>
              </a:rPr>
              <a:t>02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95;p5"/>
          <p:cNvSpPr/>
          <p:nvPr/>
        </p:nvSpPr>
        <p:spPr>
          <a:xfrm>
            <a:off x="640080" y="502920"/>
            <a:ext cx="4571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01  ·  INTRODUCTION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Google Shape;96;p5"/>
          <p:cNvSpPr/>
          <p:nvPr/>
        </p:nvSpPr>
        <p:spPr>
          <a:xfrm>
            <a:off x="594360" y="777240"/>
            <a:ext cx="649188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18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0B2545"/>
                </a:solidFill>
                <a:effectLst/>
                <a:uFillTx/>
                <a:latin typeface="Cambria"/>
                <a:ea typeface="Cambria"/>
              </a:rPr>
              <a:t>A swarm is useful only if it survives its own failures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Google Shape;97;p5"/>
          <p:cNvSpPr/>
          <p:nvPr/>
        </p:nvSpPr>
        <p:spPr>
          <a:xfrm>
            <a:off x="640080" y="1965960"/>
            <a:ext cx="64004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5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33495F"/>
                </a:solidFill>
                <a:effectLst/>
                <a:uFillTx/>
                <a:latin typeface="Calibri"/>
                <a:ea typeface="Calibri"/>
              </a:rPr>
              <a:t>Unmanned surface vehicle (USV) swarms are increasingly proposed for </a:t>
            </a:r>
            <a:r>
              <a:rPr lang="en-US" sz="1350" b="1" u="none" strike="noStrike">
                <a:solidFill>
                  <a:srgbClr val="0B2545"/>
                </a:solidFill>
                <a:effectLst/>
                <a:uFillTx/>
                <a:latin typeface="Calibri"/>
                <a:ea typeface="Calibri"/>
              </a:rPr>
              <a:t>coastal surveillance, port security, search-and-rescue and non-destructive interception</a:t>
            </a:r>
            <a:r>
              <a:rPr lang="en-US" sz="1350" b="0" u="none" strike="noStrike">
                <a:solidFill>
                  <a:srgbClr val="33495F"/>
                </a:solidFill>
                <a:effectLst/>
                <a:uFillTx/>
                <a:latin typeface="Calibri"/>
                <a:ea typeface="Calibri"/>
              </a:rPr>
              <a:t> of moving vessels. Conventional swarm control, however, assumes sensing, communication and propulsion keep working throughout the mission.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Google Shape;98;p5"/>
          <p:cNvSpPr/>
          <p:nvPr/>
        </p:nvSpPr>
        <p:spPr>
          <a:xfrm>
            <a:off x="640080" y="3246120"/>
            <a:ext cx="64004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55000"/>
              </a:lnSpc>
              <a:tabLst>
                <a:tab pos="0" algn="l"/>
              </a:tabLst>
            </a:pPr>
            <a:r>
              <a:rPr lang="en-US" sz="1350" b="0" i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At sea, that assumption fails routinely — salt-water corrosion, GPS multipath, sun-glare on cameras, thruster fouling and intermittent RF links are the norm, not the exception.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Google Shape;99;p5"/>
          <p:cNvSpPr/>
          <p:nvPr/>
        </p:nvSpPr>
        <p:spPr>
          <a:xfrm>
            <a:off x="1444680" y="4480560"/>
            <a:ext cx="20113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6B35"/>
                </a:solidFill>
                <a:effectLst/>
                <a:uFillTx/>
                <a:latin typeface="Cambria"/>
                <a:ea typeface="Cambria"/>
              </a:rPr>
              <a:t>6-10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Google Shape;100;p5"/>
          <p:cNvSpPr/>
          <p:nvPr/>
        </p:nvSpPr>
        <p:spPr>
          <a:xfrm>
            <a:off x="1444680" y="5120640"/>
            <a:ext cx="2011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27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C7A99"/>
                </a:solidFill>
                <a:effectLst/>
                <a:uFillTx/>
                <a:latin typeface="Calibri"/>
                <a:ea typeface="Calibri"/>
              </a:rPr>
              <a:t>USVs per patrol swarm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Google Shape;101;p5"/>
          <p:cNvSpPr/>
          <p:nvPr/>
        </p:nvSpPr>
        <p:spPr>
          <a:xfrm>
            <a:off x="4402800" y="4434840"/>
            <a:ext cx="20113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6B35"/>
                </a:solidFill>
                <a:effectLst/>
                <a:uFillTx/>
                <a:latin typeface="Cambria"/>
                <a:ea typeface="Cambria"/>
              </a:rPr>
              <a:t>30%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Google Shape;102;p5"/>
          <p:cNvSpPr/>
          <p:nvPr/>
        </p:nvSpPr>
        <p:spPr>
          <a:xfrm>
            <a:off x="4402800" y="5074920"/>
            <a:ext cx="2011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27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C7A99"/>
                </a:solidFill>
                <a:effectLst/>
                <a:uFillTx/>
                <a:latin typeface="Calibri"/>
                <a:ea typeface="Calibri"/>
              </a:rPr>
              <a:t>nodes may fail mid-mission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Google Shape;103;p5"/>
          <p:cNvSpPr/>
          <p:nvPr/>
        </p:nvSpPr>
        <p:spPr>
          <a:xfrm>
            <a:off x="640080" y="5989320"/>
            <a:ext cx="6400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28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B2545"/>
                </a:solidFill>
                <a:effectLst/>
                <a:uFillTx/>
                <a:latin typeface="Calibri"/>
                <a:ea typeface="Calibri"/>
              </a:rPr>
              <a:t>The real question: Can a marine swarm keep its mission, not just its formation, alive when a robot, sensor or link fails?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8" name="Google Shape;104;p5" descr="assets/swarm_aerial.jpeg"/>
          <p:cNvPicPr/>
          <p:nvPr/>
        </p:nvPicPr>
        <p:blipFill>
          <a:blip r:embed="rId1"/>
          <a:stretch/>
        </p:blipFill>
        <p:spPr>
          <a:xfrm>
            <a:off x="7360920" y="0"/>
            <a:ext cx="48276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9" name="Google Shape;105;p5"/>
          <p:cNvSpPr/>
          <p:nvPr/>
        </p:nvSpPr>
        <p:spPr>
          <a:xfrm>
            <a:off x="7360920" y="0"/>
            <a:ext cx="4827600" cy="6857640"/>
          </a:xfrm>
          <a:prstGeom prst="rect">
            <a:avLst/>
          </a:prstGeom>
          <a:solidFill>
            <a:srgbClr val="0B2545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Google Shape;106;p5"/>
          <p:cNvSpPr/>
          <p:nvPr/>
        </p:nvSpPr>
        <p:spPr>
          <a:xfrm>
            <a:off x="7543800" y="6355080"/>
            <a:ext cx="4480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50" b="0" i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Coordinated USV patrol formation, live sea trial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Google Shape;107;p5"/>
          <p:cNvSpPr/>
          <p:nvPr/>
        </p:nvSpPr>
        <p:spPr>
          <a:xfrm>
            <a:off x="11274480" y="6355080"/>
            <a:ext cx="639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C7A99"/>
                </a:solidFill>
                <a:effectLst/>
                <a:uFillTx/>
                <a:latin typeface="Calibri"/>
                <a:ea typeface="Calibri"/>
              </a:rPr>
              <a:t>03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113;p6"/>
          <p:cNvSpPr/>
          <p:nvPr/>
        </p:nvSpPr>
        <p:spPr>
          <a:xfrm>
            <a:off x="640080" y="502920"/>
            <a:ext cx="4571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7FC7C2"/>
                </a:solidFill>
                <a:effectLst/>
                <a:uFillTx/>
                <a:latin typeface="Calibri"/>
                <a:ea typeface="Calibri"/>
              </a:rPr>
              <a:t>01  ·  INTRODUCTION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Google Shape;114;p6"/>
          <p:cNvSpPr/>
          <p:nvPr/>
        </p:nvSpPr>
        <p:spPr>
          <a:xfrm>
            <a:off x="594360" y="777240"/>
            <a:ext cx="10515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Three failure classes break a swarm mission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Google Shape;115;p6"/>
          <p:cNvSpPr/>
          <p:nvPr/>
        </p:nvSpPr>
        <p:spPr>
          <a:xfrm>
            <a:off x="640080" y="137160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8FA9C4"/>
                </a:solidFill>
                <a:effectLst/>
                <a:uFillTx/>
                <a:latin typeface="Calibri"/>
                <a:ea typeface="Calibri"/>
              </a:rPr>
              <a:t>Context: Johns Hopkins APL, Swarming Uncrewed Surface Vehicles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Google Shape;116;p6"/>
          <p:cNvSpPr/>
          <p:nvPr/>
        </p:nvSpPr>
        <p:spPr>
          <a:xfrm>
            <a:off x="640080" y="2148840"/>
            <a:ext cx="3520080" cy="3382920"/>
          </a:xfrm>
          <a:prstGeom prst="rect">
            <a:avLst/>
          </a:prstGeom>
          <a:solidFill>
            <a:srgbClr val="1331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Google Shape;117;p6"/>
          <p:cNvSpPr/>
          <p:nvPr/>
        </p:nvSpPr>
        <p:spPr>
          <a:xfrm>
            <a:off x="960120" y="2514600"/>
            <a:ext cx="776880" cy="776880"/>
          </a:xfrm>
          <a:prstGeom prst="ellipse">
            <a:avLst/>
          </a:prstGeom>
          <a:solidFill>
            <a:srgbClr val="FF6B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7" name="Google Shape;118;p6" descr="icons/warning_0B2545.png"/>
          <p:cNvPicPr/>
          <p:nvPr/>
        </p:nvPicPr>
        <p:blipFill>
          <a:blip r:embed="rId1"/>
          <a:stretch/>
        </p:blipFill>
        <p:spPr>
          <a:xfrm>
            <a:off x="1146600" y="2701080"/>
            <a:ext cx="403920" cy="403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8" name="Google Shape;119;p6"/>
          <p:cNvSpPr/>
          <p:nvPr/>
        </p:nvSpPr>
        <p:spPr>
          <a:xfrm>
            <a:off x="960120" y="3566160"/>
            <a:ext cx="2880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Sensor Fault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Google Shape;120;p6"/>
          <p:cNvSpPr/>
          <p:nvPr/>
        </p:nvSpPr>
        <p:spPr>
          <a:xfrm>
            <a:off x="960120" y="4069080"/>
            <a:ext cx="288000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41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B9CDE0"/>
                </a:solidFill>
                <a:effectLst/>
                <a:uFillTx/>
                <a:latin typeface="Calibri"/>
                <a:ea typeface="Calibri"/>
              </a:rPr>
              <a:t>GPS bias, camera dropout or perception noise corrupts the shared target estimate before it ever reaches the swarm's planner.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Google Shape;121;p6"/>
          <p:cNvSpPr/>
          <p:nvPr/>
        </p:nvSpPr>
        <p:spPr>
          <a:xfrm>
            <a:off x="4480560" y="2148840"/>
            <a:ext cx="3520080" cy="3382920"/>
          </a:xfrm>
          <a:prstGeom prst="rect">
            <a:avLst/>
          </a:prstGeom>
          <a:solidFill>
            <a:srgbClr val="1331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Google Shape;122;p6"/>
          <p:cNvSpPr/>
          <p:nvPr/>
        </p:nvSpPr>
        <p:spPr>
          <a:xfrm>
            <a:off x="4800600" y="2514600"/>
            <a:ext cx="776880" cy="77688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2" name="Google Shape;123;p6" descr="icons/robot_0B2545.png"/>
          <p:cNvPicPr/>
          <p:nvPr/>
        </p:nvPicPr>
        <p:blipFill>
          <a:blip r:embed="rId2"/>
          <a:stretch/>
        </p:blipFill>
        <p:spPr>
          <a:xfrm>
            <a:off x="4987080" y="2701080"/>
            <a:ext cx="403920" cy="403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3" name="Google Shape;124;p6"/>
          <p:cNvSpPr/>
          <p:nvPr/>
        </p:nvSpPr>
        <p:spPr>
          <a:xfrm>
            <a:off x="4800600" y="3566160"/>
            <a:ext cx="2880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Robot Fault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Google Shape;125;p6"/>
          <p:cNvSpPr/>
          <p:nvPr/>
        </p:nvSpPr>
        <p:spPr>
          <a:xfrm>
            <a:off x="4800600" y="4069080"/>
            <a:ext cx="288000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41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B9CDE0"/>
                </a:solidFill>
                <a:effectLst/>
                <a:uFillTx/>
                <a:latin typeface="Calibri"/>
                <a:ea typeface="Calibri"/>
              </a:rPr>
              <a:t>Thruster degradation, battery collapse or a dead node leaves an assigned role — scout, tracker, relay — unfilled mid-mission.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Google Shape;126;p6"/>
          <p:cNvSpPr/>
          <p:nvPr/>
        </p:nvSpPr>
        <p:spPr>
          <a:xfrm>
            <a:off x="8321040" y="2148840"/>
            <a:ext cx="3520080" cy="3382920"/>
          </a:xfrm>
          <a:prstGeom prst="rect">
            <a:avLst/>
          </a:prstGeom>
          <a:solidFill>
            <a:srgbClr val="1331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Google Shape;127;p6"/>
          <p:cNvSpPr/>
          <p:nvPr/>
        </p:nvSpPr>
        <p:spPr>
          <a:xfrm>
            <a:off x="8641080" y="2514600"/>
            <a:ext cx="776880" cy="776880"/>
          </a:xfrm>
          <a:prstGeom prst="ellipse">
            <a:avLst/>
          </a:prstGeom>
          <a:solidFill>
            <a:srgbClr val="5FA8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7" name="Google Shape;128;p6" descr="icons/wifi_0B2545.png"/>
          <p:cNvPicPr/>
          <p:nvPr/>
        </p:nvPicPr>
        <p:blipFill>
          <a:blip r:embed="rId3"/>
          <a:stretch/>
        </p:blipFill>
        <p:spPr>
          <a:xfrm>
            <a:off x="8827560" y="2701080"/>
            <a:ext cx="403920" cy="403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" name="Google Shape;129;p6"/>
          <p:cNvSpPr/>
          <p:nvPr/>
        </p:nvSpPr>
        <p:spPr>
          <a:xfrm>
            <a:off x="8641080" y="3566160"/>
            <a:ext cx="2880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Network Fault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Google Shape;130;p6"/>
          <p:cNvSpPr/>
          <p:nvPr/>
        </p:nvSpPr>
        <p:spPr>
          <a:xfrm>
            <a:off x="8641080" y="4069080"/>
            <a:ext cx="288000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41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B9CDE0"/>
                </a:solidFill>
                <a:effectLst/>
                <a:uFillTx/>
                <a:latin typeface="Calibri"/>
                <a:ea typeface="Calibri"/>
              </a:rPr>
              <a:t>Link loss splits the coordination graph, breaking shared target belief and containment consensus across the swarm.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Google Shape;131;p6"/>
          <p:cNvSpPr/>
          <p:nvPr/>
        </p:nvSpPr>
        <p:spPr>
          <a:xfrm>
            <a:off x="640080" y="5806440"/>
            <a:ext cx="10881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Conventional swarm control has no unified answer to any of these — this project targets a closed loop that handles all three.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Google Shape;132;p6"/>
          <p:cNvSpPr/>
          <p:nvPr/>
        </p:nvSpPr>
        <p:spPr>
          <a:xfrm>
            <a:off x="11274480" y="6355080"/>
            <a:ext cx="639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E93B5"/>
                </a:solidFill>
                <a:effectLst/>
                <a:uFillTx/>
                <a:latin typeface="Calibri"/>
                <a:ea typeface="Calibri"/>
              </a:rPr>
              <a:t>04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38;p7"/>
          <p:cNvSpPr/>
          <p:nvPr/>
        </p:nvSpPr>
        <p:spPr>
          <a:xfrm>
            <a:off x="640080" y="502920"/>
            <a:ext cx="4571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02  ·  INTRODUCING THE PROBLEM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Google Shape;139;p7"/>
          <p:cNvSpPr/>
          <p:nvPr/>
        </p:nvSpPr>
        <p:spPr>
          <a:xfrm>
            <a:off x="594360" y="777240"/>
            <a:ext cx="649188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18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0B2545"/>
                </a:solidFill>
                <a:effectLst/>
                <a:uFillTx/>
                <a:latin typeface="Cambria"/>
                <a:ea typeface="Cambria"/>
              </a:rPr>
              <a:t>Problem Statement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Google Shape;140;p7"/>
          <p:cNvSpPr/>
          <p:nvPr/>
        </p:nvSpPr>
        <p:spPr>
          <a:xfrm>
            <a:off x="594360" y="1965960"/>
            <a:ext cx="5013720" cy="38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just">
              <a:lnSpc>
                <a:spcPct val="15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33495F"/>
                </a:solidFill>
                <a:effectLst/>
                <a:uFillTx/>
                <a:latin typeface="Calibri"/>
                <a:ea typeface="Calibri"/>
              </a:rPr>
              <a:t>To develop and validate a simulation-first, agentic control architecture that unifies real-time fault diagnosis ($h_i(t)$), dynamic role reallocation, fault-aware policy execution (FA-MAPPO), and closed-loop mission verification—preserving cooperative tracking and encirclement integrity under up to 30% node and link degradation without human intervention.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Google Shape;141;p7"/>
          <p:cNvSpPr/>
          <p:nvPr/>
        </p:nvSpPr>
        <p:spPr>
          <a:xfrm>
            <a:off x="7543800" y="6355080"/>
            <a:ext cx="4480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50" b="0" i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Coordinated USV patrol formation, live sea trial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Google Shape;142;p7"/>
          <p:cNvSpPr/>
          <p:nvPr/>
        </p:nvSpPr>
        <p:spPr>
          <a:xfrm>
            <a:off x="11274480" y="6355080"/>
            <a:ext cx="639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C7A99"/>
                </a:solidFill>
                <a:effectLst/>
                <a:uFillTx/>
                <a:latin typeface="Calibri"/>
                <a:ea typeface="Calibri"/>
              </a:rPr>
              <a:t>05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7" name="Google Shape;143;p7"/>
          <p:cNvPicPr/>
          <p:nvPr/>
        </p:nvPicPr>
        <p:blipFill>
          <a:blip r:embed="rId1"/>
          <a:stretch/>
        </p:blipFill>
        <p:spPr>
          <a:xfrm>
            <a:off x="5946480" y="0"/>
            <a:ext cx="624492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49;p8"/>
          <p:cNvSpPr/>
          <p:nvPr/>
        </p:nvSpPr>
        <p:spPr>
          <a:xfrm>
            <a:off x="0" y="83520"/>
            <a:ext cx="12188520" cy="6857640"/>
          </a:xfrm>
          <a:prstGeom prst="rect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Google Shape;150;p8"/>
          <p:cNvSpPr/>
          <p:nvPr/>
        </p:nvSpPr>
        <p:spPr>
          <a:xfrm>
            <a:off x="457200" y="274320"/>
            <a:ext cx="1231560" cy="10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0" b="1" u="none" strike="noStrike">
                <a:solidFill>
                  <a:srgbClr val="2E86A0"/>
                </a:solidFill>
                <a:effectLst/>
                <a:uFillTx/>
                <a:latin typeface="Cambria"/>
                <a:ea typeface="Cambria"/>
              </a:rPr>
              <a:t>“</a:t>
            </a:r>
            <a:endParaRPr lang="en-US" sz="1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Google Shape;151;p8"/>
          <p:cNvSpPr/>
          <p:nvPr/>
        </p:nvSpPr>
        <p:spPr>
          <a:xfrm>
            <a:off x="640080" y="698040"/>
            <a:ext cx="4571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D8ECEA"/>
                </a:solidFill>
                <a:effectLst/>
                <a:uFillTx/>
                <a:latin typeface="Calibri"/>
                <a:ea typeface="Calibri"/>
              </a:rPr>
              <a:t>02  ·  THE RESEARCH GAP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Google Shape;152;p8"/>
          <p:cNvSpPr/>
          <p:nvPr/>
        </p:nvSpPr>
        <p:spPr>
          <a:xfrm>
            <a:off x="685800" y="1238760"/>
            <a:ext cx="10684080" cy="67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The gap is not another MARL policy — it is a unified, testable fault-recovery architecture.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Google Shape;153;p8"/>
          <p:cNvSpPr/>
          <p:nvPr/>
        </p:nvSpPr>
        <p:spPr>
          <a:xfrm>
            <a:off x="653760" y="3654000"/>
            <a:ext cx="108810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en-US" sz="2100" b="1" i="1" u="none" strike="noStrike">
                <a:solidFill>
                  <a:schemeClr val="lt1"/>
                </a:solidFill>
                <a:effectLst/>
                <a:uFillTx/>
                <a:latin typeface="Cambria"/>
                <a:ea typeface="Cambria"/>
              </a:rPr>
              <a:t>The missing capability is a diagnose → reconfigure → act → verify → recover loop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Google Shape;154;p8"/>
          <p:cNvSpPr/>
          <p:nvPr/>
        </p:nvSpPr>
        <p:spPr>
          <a:xfrm>
            <a:off x="685800" y="4451400"/>
            <a:ext cx="960084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57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EAF4F2"/>
                </a:solidFill>
                <a:effectLst/>
                <a:uFillTx/>
                <a:latin typeface="Calibri"/>
                <a:ea typeface="Calibri"/>
              </a:rPr>
              <a:t>GAP: A simulation-validated, agentic control architecture that integrates real-time fault diagnosis, dynamic role reallocation, fault-aware MAPPO, and closed-loop mission verification into a single autonomous recovery framework for multi-USV systems.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Google Shape;155;p8"/>
          <p:cNvSpPr/>
          <p:nvPr/>
        </p:nvSpPr>
        <p:spPr>
          <a:xfrm>
            <a:off x="11274480" y="6363360"/>
            <a:ext cx="639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E93B5"/>
                </a:solidFill>
                <a:effectLst/>
                <a:uFillTx/>
                <a:latin typeface="Calibri"/>
                <a:ea typeface="Calibri"/>
              </a:rPr>
              <a:t>06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Google Shape;156;p8"/>
          <p:cNvSpPr/>
          <p:nvPr/>
        </p:nvSpPr>
        <p:spPr>
          <a:xfrm>
            <a:off x="685800" y="2168280"/>
            <a:ext cx="960084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57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EAF4F2"/>
                </a:solidFill>
                <a:effectLst/>
                <a:uFillTx/>
                <a:latin typeface="Calibri"/>
                <a:ea typeface="Calibri"/>
              </a:rPr>
              <a:t>Existing research has demonstrated USV perception, cooperative MARL, MAPPO-based tracking/interception, fault-tolerant learning, and agentic planning largely as separate capabilities. However, there is limited work demonstrating their closed-loop integration for autonomous marine swarms operating under realistic node and communication-link failures. 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62;p9"/>
          <p:cNvSpPr/>
          <p:nvPr/>
        </p:nvSpPr>
        <p:spPr>
          <a:xfrm>
            <a:off x="640080" y="457200"/>
            <a:ext cx="4571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03  ·  LITERATURE REVIEW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Google Shape;163;p9"/>
          <p:cNvSpPr/>
          <p:nvPr/>
        </p:nvSpPr>
        <p:spPr>
          <a:xfrm>
            <a:off x="594360" y="731520"/>
            <a:ext cx="73148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0B2545"/>
                </a:solidFill>
                <a:effectLst/>
                <a:uFillTx/>
                <a:latin typeface="Cambria"/>
                <a:ea typeface="Cambria"/>
              </a:rPr>
              <a:t>15 papers reviewed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Google Shape;164;p9"/>
          <p:cNvSpPr/>
          <p:nvPr/>
        </p:nvSpPr>
        <p:spPr>
          <a:xfrm>
            <a:off x="640080" y="1371600"/>
            <a:ext cx="57603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6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44586E"/>
                </a:solidFill>
                <a:effectLst/>
                <a:uFillTx/>
                <a:latin typeface="Calibri"/>
                <a:ea typeface="Calibri"/>
              </a:rPr>
              <a:t>Sourced from peer-reviewed journals, ScienceDirect, MDPI, Nature, Frontiers and arXiv preprints (2021–2026), spanning four converging research threads.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Google Shape;165;p9"/>
          <p:cNvSpPr/>
          <p:nvPr/>
        </p:nvSpPr>
        <p:spPr>
          <a:xfrm>
            <a:off x="640080" y="2331720"/>
            <a:ext cx="502560" cy="50256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0" name="Google Shape;166;p9" descr="icons/ship_FFFFFF.png"/>
          <p:cNvPicPr/>
          <p:nvPr/>
        </p:nvPicPr>
        <p:blipFill>
          <a:blip r:embed="rId1"/>
          <a:stretch/>
        </p:blipFill>
        <p:spPr>
          <a:xfrm>
            <a:off x="760680" y="2452320"/>
            <a:ext cx="261000" cy="261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1" name="Google Shape;167;p9"/>
          <p:cNvSpPr/>
          <p:nvPr/>
        </p:nvSpPr>
        <p:spPr>
          <a:xfrm>
            <a:off x="1325880" y="2350080"/>
            <a:ext cx="3565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12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B2545"/>
                </a:solidFill>
                <a:effectLst/>
                <a:uFillTx/>
                <a:latin typeface="Calibri"/>
                <a:ea typeface="Calibri"/>
              </a:rPr>
              <a:t>Marine Swarm Coordination &amp; Tracking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Google Shape;168;p9"/>
          <p:cNvSpPr/>
          <p:nvPr/>
        </p:nvSpPr>
        <p:spPr>
          <a:xfrm>
            <a:off x="1325880" y="2843640"/>
            <a:ext cx="2651400" cy="145800"/>
          </a:xfrm>
          <a:prstGeom prst="rect">
            <a:avLst/>
          </a:prstGeom>
          <a:solidFill>
            <a:srgbClr val="DCE6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73080" bIns="7308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Google Shape;169;p9"/>
          <p:cNvSpPr/>
          <p:nvPr/>
        </p:nvSpPr>
        <p:spPr>
          <a:xfrm>
            <a:off x="1325880" y="2843640"/>
            <a:ext cx="2651400" cy="145800"/>
          </a:xfrm>
          <a:prstGeom prst="rect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73080" bIns="7308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Google Shape;170;p9"/>
          <p:cNvSpPr/>
          <p:nvPr/>
        </p:nvSpPr>
        <p:spPr>
          <a:xfrm>
            <a:off x="4114800" y="2734200"/>
            <a:ext cx="456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C7293"/>
                </a:solidFill>
                <a:effectLst/>
                <a:uFillTx/>
                <a:latin typeface="Cambria"/>
                <a:ea typeface="Cambria"/>
              </a:rPr>
              <a:t>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Google Shape;171;p9"/>
          <p:cNvSpPr/>
          <p:nvPr/>
        </p:nvSpPr>
        <p:spPr>
          <a:xfrm>
            <a:off x="640080" y="3246120"/>
            <a:ext cx="502560" cy="502560"/>
          </a:xfrm>
          <a:prstGeom prst="ellipse">
            <a:avLst/>
          </a:prstGeom>
          <a:solidFill>
            <a:srgbClr val="FF6B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6" name="Google Shape;172;p9" descr="icons/shield_FFFFFF.png"/>
          <p:cNvPicPr/>
          <p:nvPr/>
        </p:nvPicPr>
        <p:blipFill>
          <a:blip r:embed="rId2"/>
          <a:stretch/>
        </p:blipFill>
        <p:spPr>
          <a:xfrm>
            <a:off x="760680" y="3366720"/>
            <a:ext cx="261000" cy="261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7" name="Google Shape;173;p9"/>
          <p:cNvSpPr/>
          <p:nvPr/>
        </p:nvSpPr>
        <p:spPr>
          <a:xfrm>
            <a:off x="1325880" y="3264480"/>
            <a:ext cx="3565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12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B2545"/>
                </a:solidFill>
                <a:effectLst/>
                <a:uFillTx/>
                <a:latin typeface="Calibri"/>
                <a:ea typeface="Calibri"/>
              </a:rPr>
              <a:t>Fault-Tolerant Multi-Agent RL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Google Shape;174;p9"/>
          <p:cNvSpPr/>
          <p:nvPr/>
        </p:nvSpPr>
        <p:spPr>
          <a:xfrm>
            <a:off x="1325880" y="3758040"/>
            <a:ext cx="2651400" cy="145800"/>
          </a:xfrm>
          <a:prstGeom prst="rect">
            <a:avLst/>
          </a:prstGeom>
          <a:solidFill>
            <a:srgbClr val="DCE6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73080" bIns="7308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Google Shape;175;p9"/>
          <p:cNvSpPr/>
          <p:nvPr/>
        </p:nvSpPr>
        <p:spPr>
          <a:xfrm>
            <a:off x="1325880" y="3758040"/>
            <a:ext cx="2651400" cy="145800"/>
          </a:xfrm>
          <a:prstGeom prst="rect">
            <a:avLst/>
          </a:prstGeom>
          <a:solidFill>
            <a:srgbClr val="FF6B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73080" bIns="7308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Google Shape;176;p9"/>
          <p:cNvSpPr/>
          <p:nvPr/>
        </p:nvSpPr>
        <p:spPr>
          <a:xfrm>
            <a:off x="4114800" y="3648600"/>
            <a:ext cx="456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6B35"/>
                </a:solidFill>
                <a:effectLst/>
                <a:uFillTx/>
                <a:latin typeface="Cambria"/>
                <a:ea typeface="Cambria"/>
              </a:rPr>
              <a:t>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Google Shape;177;p9"/>
          <p:cNvSpPr/>
          <p:nvPr/>
        </p:nvSpPr>
        <p:spPr>
          <a:xfrm>
            <a:off x="640080" y="4160520"/>
            <a:ext cx="502560" cy="502560"/>
          </a:xfrm>
          <a:prstGeom prst="ellipse">
            <a:avLst/>
          </a:prstGeom>
          <a:solidFill>
            <a:srgbClr val="5FA8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2" name="Google Shape;178;p9" descr="icons/brain_FFFFFF.png"/>
          <p:cNvPicPr/>
          <p:nvPr/>
        </p:nvPicPr>
        <p:blipFill>
          <a:blip r:embed="rId3"/>
          <a:stretch/>
        </p:blipFill>
        <p:spPr>
          <a:xfrm>
            <a:off x="760680" y="4281120"/>
            <a:ext cx="261000" cy="261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3" name="Google Shape;179;p9"/>
          <p:cNvSpPr/>
          <p:nvPr/>
        </p:nvSpPr>
        <p:spPr>
          <a:xfrm>
            <a:off x="1325880" y="4178880"/>
            <a:ext cx="3565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12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B2545"/>
                </a:solidFill>
                <a:effectLst/>
                <a:uFillTx/>
                <a:latin typeface="Calibri"/>
                <a:ea typeface="Calibri"/>
              </a:rPr>
              <a:t>Agentic AI &amp; Self-Healing Architectures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Google Shape;180;p9"/>
          <p:cNvSpPr/>
          <p:nvPr/>
        </p:nvSpPr>
        <p:spPr>
          <a:xfrm>
            <a:off x="1325880" y="4672440"/>
            <a:ext cx="2651400" cy="145800"/>
          </a:xfrm>
          <a:prstGeom prst="rect">
            <a:avLst/>
          </a:prstGeom>
          <a:solidFill>
            <a:srgbClr val="DCE6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73080" bIns="7308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Google Shape;181;p9"/>
          <p:cNvSpPr/>
          <p:nvPr/>
        </p:nvSpPr>
        <p:spPr>
          <a:xfrm>
            <a:off x="1325880" y="4672440"/>
            <a:ext cx="2121120" cy="145800"/>
          </a:xfrm>
          <a:prstGeom prst="rect">
            <a:avLst/>
          </a:prstGeom>
          <a:solidFill>
            <a:srgbClr val="5FA8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73080" bIns="7308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Google Shape;182;p9"/>
          <p:cNvSpPr/>
          <p:nvPr/>
        </p:nvSpPr>
        <p:spPr>
          <a:xfrm>
            <a:off x="4114800" y="4563000"/>
            <a:ext cx="456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5FA8A0"/>
                </a:solidFill>
                <a:effectLst/>
                <a:uFillTx/>
                <a:latin typeface="Cambria"/>
                <a:ea typeface="Cambria"/>
              </a:rPr>
              <a:t>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Google Shape;183;p9"/>
          <p:cNvSpPr/>
          <p:nvPr/>
        </p:nvSpPr>
        <p:spPr>
          <a:xfrm>
            <a:off x="640080" y="5074920"/>
            <a:ext cx="502560" cy="502560"/>
          </a:xfrm>
          <a:prstGeom prst="ellipse">
            <a:avLst/>
          </a:prstGeom>
          <a:solidFill>
            <a:srgbClr val="8C6FB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8" name="Google Shape;184;p9" descr="icons/flask_FFFFFF.png"/>
          <p:cNvPicPr/>
          <p:nvPr/>
        </p:nvPicPr>
        <p:blipFill>
          <a:blip r:embed="rId4"/>
          <a:stretch/>
        </p:blipFill>
        <p:spPr>
          <a:xfrm>
            <a:off x="760680" y="5195520"/>
            <a:ext cx="261000" cy="261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9" name="Google Shape;185;p9"/>
          <p:cNvSpPr/>
          <p:nvPr/>
        </p:nvSpPr>
        <p:spPr>
          <a:xfrm>
            <a:off x="1325880" y="5093280"/>
            <a:ext cx="3565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12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B2545"/>
                </a:solidFill>
                <a:effectLst/>
                <a:uFillTx/>
                <a:latin typeface="Calibri"/>
                <a:ea typeface="Calibri"/>
              </a:rPr>
              <a:t>Simulation &amp; Test Infrastructure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Google Shape;186;p9"/>
          <p:cNvSpPr/>
          <p:nvPr/>
        </p:nvSpPr>
        <p:spPr>
          <a:xfrm>
            <a:off x="1325880" y="5586840"/>
            <a:ext cx="2651400" cy="145800"/>
          </a:xfrm>
          <a:prstGeom prst="rect">
            <a:avLst/>
          </a:prstGeom>
          <a:solidFill>
            <a:srgbClr val="DCE6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73080" bIns="7308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Google Shape;187;p9"/>
          <p:cNvSpPr/>
          <p:nvPr/>
        </p:nvSpPr>
        <p:spPr>
          <a:xfrm>
            <a:off x="1325880" y="5586840"/>
            <a:ext cx="529920" cy="145800"/>
          </a:xfrm>
          <a:prstGeom prst="rect">
            <a:avLst/>
          </a:prstGeom>
          <a:solidFill>
            <a:srgbClr val="8C6FB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73080" bIns="7308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Google Shape;188;p9"/>
          <p:cNvSpPr/>
          <p:nvPr/>
        </p:nvSpPr>
        <p:spPr>
          <a:xfrm>
            <a:off x="4114800" y="5477400"/>
            <a:ext cx="456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8C6FB0"/>
                </a:solidFill>
                <a:effectLst/>
                <a:uFillTx/>
                <a:latin typeface="Cambria"/>
                <a:ea typeface="Cambria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3" name="Google Shape;189;p9"/>
          <p:cNvPicPr/>
          <p:nvPr/>
        </p:nvPicPr>
        <p:blipFill>
          <a:blip r:embed="rId5"/>
          <a:stretch/>
        </p:blipFill>
        <p:spPr>
          <a:xfrm>
            <a:off x="7223760" y="1691640"/>
            <a:ext cx="4480200" cy="4205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4" name="Google Shape;190;p9"/>
          <p:cNvSpPr/>
          <p:nvPr/>
        </p:nvSpPr>
        <p:spPr>
          <a:xfrm>
            <a:off x="640080" y="6217920"/>
            <a:ext cx="10881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50" b="0" i="1" u="none" strike="noStrike">
                <a:solidFill>
                  <a:srgbClr val="FF6B35"/>
                </a:solidFill>
                <a:effectLst/>
                <a:uFillTx/>
                <a:latin typeface="Calibri"/>
                <a:ea typeface="Calibri"/>
              </a:rPr>
              <a:t>Gap identified: strong single-domain results in each thread, but no marine-specific paper closes the diagnose → plan → act → verify loop end to end.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Google Shape;191;p9"/>
          <p:cNvSpPr/>
          <p:nvPr/>
        </p:nvSpPr>
        <p:spPr>
          <a:xfrm>
            <a:off x="11274480" y="6355080"/>
            <a:ext cx="639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C7A99"/>
                </a:solidFill>
                <a:effectLst/>
                <a:uFillTx/>
                <a:latin typeface="Calibri"/>
                <a:ea typeface="Calibri"/>
              </a:rPr>
              <a:t>07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97;p10"/>
          <p:cNvSpPr/>
          <p:nvPr/>
        </p:nvSpPr>
        <p:spPr>
          <a:xfrm>
            <a:off x="548640" y="365760"/>
            <a:ext cx="4571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03  ·  LITERATURE REVIEW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Google Shape;198;p10"/>
          <p:cNvSpPr/>
          <p:nvPr/>
        </p:nvSpPr>
        <p:spPr>
          <a:xfrm>
            <a:off x="502920" y="62172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0B2545"/>
                </a:solidFill>
                <a:effectLst/>
                <a:uFillTx/>
                <a:latin typeface="Cambria"/>
                <a:ea typeface="Cambria"/>
              </a:rPr>
              <a:t>Marine &amp; swarm coordination — cooperative sensing, tracking, interception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58" name="Google Shape;199;p10"/>
          <p:cNvGraphicFramePr/>
          <p:nvPr/>
        </p:nvGraphicFramePr>
        <p:xfrm>
          <a:off x="502920" y="1280160"/>
          <a:ext cx="11475360" cy="5074560"/>
        </p:xfrm>
        <a:graphic>
          <a:graphicData uri="http://schemas.openxmlformats.org/drawingml/2006/table">
            <a:tbl>
              <a:tblPr/>
              <a:tblGrid>
                <a:gridCol w="411120"/>
                <a:gridCol w="2743200"/>
                <a:gridCol w="4160520"/>
                <a:gridCol w="4160520"/>
              </a:tblGrid>
              <a:tr h="845640">
                <a:tc>
                  <a:txBody>
                    <a:bodyPr lIns="101520" tIns="50760" rIns="101520" bIns="507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S. No.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DCE6ED"/>
                      </a:solidFill>
                      <a:prstDash val="solid"/>
                    </a:lnL>
                    <a:lnR w="9360">
                      <a:solidFill>
                        <a:srgbClr val="DCE6ED"/>
                      </a:solidFill>
                      <a:prstDash val="solid"/>
                    </a:lnR>
                    <a:lnT w="9360">
                      <a:solidFill>
                        <a:srgbClr val="DCE6ED"/>
                      </a:solidFill>
                      <a:prstDash val="solid"/>
                    </a:lnT>
                    <a:lnB w="9360">
                      <a:solidFill>
                        <a:srgbClr val="DCE6E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Title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DCE6ED"/>
                      </a:solidFill>
                      <a:prstDash val="solid"/>
                    </a:lnL>
                    <a:lnR w="9360">
                      <a:solidFill>
                        <a:srgbClr val="DCE6ED"/>
                      </a:solidFill>
                      <a:prstDash val="solid"/>
                    </a:lnR>
                    <a:lnT w="9360">
                      <a:solidFill>
                        <a:srgbClr val="DCE6ED"/>
                      </a:solidFill>
                      <a:prstDash val="solid"/>
                    </a:lnT>
                    <a:lnB w="9360">
                      <a:solidFill>
                        <a:srgbClr val="DCE6E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Brief of the Paper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DCE6ED"/>
                      </a:solidFill>
                      <a:prstDash val="solid"/>
                    </a:lnL>
                    <a:lnR w="9360">
                      <a:solidFill>
                        <a:srgbClr val="DCE6ED"/>
                      </a:solidFill>
                      <a:prstDash val="solid"/>
                    </a:lnR>
                    <a:lnT w="9360">
                      <a:solidFill>
                        <a:srgbClr val="DCE6ED"/>
                      </a:solidFill>
                      <a:prstDash val="solid"/>
                    </a:lnT>
                    <a:lnB w="9360">
                      <a:solidFill>
                        <a:srgbClr val="DCE6E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Shortcomings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DCE6ED"/>
                      </a:solidFill>
                      <a:prstDash val="solid"/>
                    </a:lnL>
                    <a:lnR w="9360">
                      <a:solidFill>
                        <a:srgbClr val="DCE6ED"/>
                      </a:solidFill>
                      <a:prstDash val="solid"/>
                    </a:lnR>
                    <a:lnT w="9360">
                      <a:solidFill>
                        <a:srgbClr val="DCE6ED"/>
                      </a:solidFill>
                      <a:prstDash val="solid"/>
                    </a:lnT>
                    <a:lnB w="9360">
                      <a:solidFill>
                        <a:srgbClr val="DCE6E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</a:tr>
              <a:tr h="845640">
                <a:tc>
                  <a:txBody>
                    <a:bodyPr lIns="101520" tIns="50760" rIns="101520" bIns="507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1C729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DCE6ED"/>
                      </a:solidFill>
                      <a:prstDash val="solid"/>
                    </a:lnL>
                    <a:lnR w="9360">
                      <a:solidFill>
                        <a:srgbClr val="DCE6ED"/>
                      </a:solidFill>
                      <a:prstDash val="solid"/>
                    </a:lnR>
                    <a:lnT w="9360">
                      <a:solidFill>
                        <a:srgbClr val="DCE6ED"/>
                      </a:solidFill>
                      <a:prstDash val="solid"/>
                    </a:lnT>
                    <a:lnB w="9360">
                      <a:solidFill>
                        <a:srgbClr val="DCE6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ACL-LSTM-MAPPO Multi-USV Interception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(Xiang et al., 2026)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DCE6ED"/>
                      </a:solidFill>
                      <a:prstDash val="solid"/>
                    </a:lnL>
                    <a:lnR w="9360">
                      <a:solidFill>
                        <a:srgbClr val="DCE6ED"/>
                      </a:solidFill>
                      <a:prstDash val="solid"/>
                    </a:lnR>
                    <a:lnT w="9360">
                      <a:solidFill>
                        <a:srgbClr val="DCE6ED"/>
                      </a:solidFill>
                      <a:prstDash val="solid"/>
                    </a:lnT>
                    <a:lnB w="9360">
                      <a:solidFill>
                        <a:srgbClr val="DCE6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33495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Combines attention, curriculum learning and LSTM-MAPPO for multi-USV interception. Curriculum learning improves convergence and interception performance under dynamic disturbances.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DCE6ED"/>
                      </a:solidFill>
                      <a:prstDash val="solid"/>
                    </a:lnL>
                    <a:lnR w="9360">
                      <a:solidFill>
                        <a:srgbClr val="DCE6ED"/>
                      </a:solidFill>
                      <a:prstDash val="solid"/>
                    </a:lnR>
                    <a:lnT w="9360">
                      <a:solidFill>
                        <a:srgbClr val="DCE6ED"/>
                      </a:solidFill>
                      <a:prstDash val="solid"/>
                    </a:lnT>
                    <a:lnB w="9360">
                      <a:solidFill>
                        <a:srgbClr val="DCE6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Focuses on interception performance but does not address explicit fault diagnosis, role reallocation, or autonomous recovery after agent or link failures.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DCE6ED"/>
                      </a:solidFill>
                      <a:prstDash val="solid"/>
                    </a:lnL>
                    <a:lnR w="9360">
                      <a:solidFill>
                        <a:srgbClr val="DCE6ED"/>
                      </a:solidFill>
                      <a:prstDash val="solid"/>
                    </a:lnR>
                    <a:lnT w="9360">
                      <a:solidFill>
                        <a:srgbClr val="DCE6ED"/>
                      </a:solidFill>
                      <a:prstDash val="solid"/>
                    </a:lnT>
                    <a:lnB w="9360">
                      <a:solidFill>
                        <a:srgbClr val="DCE6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45640">
                <a:tc>
                  <a:txBody>
                    <a:bodyPr lIns="101520" tIns="50760" rIns="101520" bIns="507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1C729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DCE6ED"/>
                      </a:solidFill>
                      <a:prstDash val="solid"/>
                    </a:lnL>
                    <a:lnR w="9360">
                      <a:solidFill>
                        <a:srgbClr val="DCE6ED"/>
                      </a:solidFill>
                      <a:prstDash val="solid"/>
                    </a:lnR>
                    <a:lnT w="9360">
                      <a:solidFill>
                        <a:srgbClr val="DCE6ED"/>
                      </a:solidFill>
                      <a:prstDash val="solid"/>
                    </a:lnT>
                    <a:lnB w="9360">
                      <a:solidFill>
                        <a:srgbClr val="DCE6ED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Swarm USV Encirclement with MAPPO / MAPPO-LSTM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(Transportation Research Procedia, 2026)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DCE6ED"/>
                      </a:solidFill>
                      <a:prstDash val="solid"/>
                    </a:lnL>
                    <a:lnR w="9360">
                      <a:solidFill>
                        <a:srgbClr val="DCE6ED"/>
                      </a:solidFill>
                      <a:prstDash val="solid"/>
                    </a:lnR>
                    <a:lnT w="9360">
                      <a:solidFill>
                        <a:srgbClr val="DCE6ED"/>
                      </a:solidFill>
                      <a:prstDash val="solid"/>
                    </a:lnT>
                    <a:lnB w="9360">
                      <a:solidFill>
                        <a:srgbClr val="DCE6ED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33495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Compares MAPPO and MAPPO-LSTM for cooperative USV encirclement of an evasive target. LSTM improves temporal coordination and motion smoothness under partial observability.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DCE6ED"/>
                      </a:solidFill>
                      <a:prstDash val="solid"/>
                    </a:lnL>
                    <a:lnR w="9360">
                      <a:solidFill>
                        <a:srgbClr val="DCE6ED"/>
                      </a:solidFill>
                      <a:prstDash val="solid"/>
                    </a:lnR>
                    <a:lnT w="9360">
                      <a:solidFill>
                        <a:srgbClr val="DCE6ED"/>
                      </a:solidFill>
                      <a:prstDash val="solid"/>
                    </a:lnT>
                    <a:lnB w="9360">
                      <a:solidFill>
                        <a:srgbClr val="DCE6ED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Evaluates healthy-agent encirclement and does not explicitly model node failures, communication degradation, or closed-loop recovery.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DCE6ED"/>
                      </a:solidFill>
                      <a:prstDash val="solid"/>
                    </a:lnL>
                    <a:lnR w="9360">
                      <a:solidFill>
                        <a:srgbClr val="DCE6ED"/>
                      </a:solidFill>
                      <a:prstDash val="solid"/>
                    </a:lnR>
                    <a:lnT w="9360">
                      <a:solidFill>
                        <a:srgbClr val="DCE6ED"/>
                      </a:solidFill>
                      <a:prstDash val="solid"/>
                    </a:lnT>
                    <a:lnB w="9360">
                      <a:solidFill>
                        <a:srgbClr val="DCE6ED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</a:tr>
              <a:tr h="845640">
                <a:tc>
                  <a:txBody>
                    <a:bodyPr lIns="101520" tIns="50760" rIns="101520" bIns="507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1C729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3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DCE6ED"/>
                      </a:solidFill>
                      <a:prstDash val="solid"/>
                    </a:lnL>
                    <a:lnR w="9360">
                      <a:solidFill>
                        <a:srgbClr val="DCE6ED"/>
                      </a:solidFill>
                      <a:prstDash val="solid"/>
                    </a:lnR>
                    <a:lnT w="9360">
                      <a:solidFill>
                        <a:srgbClr val="DCE6ED"/>
                      </a:solidFill>
                      <a:prstDash val="solid"/>
                    </a:lnT>
                    <a:lnB w="9360">
                      <a:solidFill>
                        <a:srgbClr val="DCE6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Explainable MARL for Secure UAV Swarm FANET Communication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(Scientific Reports, 2026)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DCE6ED"/>
                      </a:solidFill>
                      <a:prstDash val="solid"/>
                    </a:lnL>
                    <a:lnR w="9360">
                      <a:solidFill>
                        <a:srgbClr val="DCE6ED"/>
                      </a:solidFill>
                      <a:prstDash val="solid"/>
                    </a:lnR>
                    <a:lnT w="9360">
                      <a:solidFill>
                        <a:srgbClr val="DCE6ED"/>
                      </a:solidFill>
                      <a:prstDash val="solid"/>
                    </a:lnT>
                    <a:lnB w="9360">
                      <a:solidFill>
                        <a:srgbClr val="DCE6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33495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Combines decentralized MARL, trust-based routing and explainable AI for adaptive UAV swarm communication under adversarial conditions.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DCE6ED"/>
                      </a:solidFill>
                      <a:prstDash val="solid"/>
                    </a:lnL>
                    <a:lnR w="9360">
                      <a:solidFill>
                        <a:srgbClr val="DCE6ED"/>
                      </a:solidFill>
                      <a:prstDash val="solid"/>
                    </a:lnR>
                    <a:lnT w="9360">
                      <a:solidFill>
                        <a:srgbClr val="DCE6ED"/>
                      </a:solidFill>
                      <a:prstDash val="solid"/>
                    </a:lnT>
                    <a:lnB w="9360">
                      <a:solidFill>
                        <a:srgbClr val="DCE6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Focuses on secure communication and routing rather than mission-level recovery, USV control, or coordinated task reconfiguration.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DCE6ED"/>
                      </a:solidFill>
                      <a:prstDash val="solid"/>
                    </a:lnL>
                    <a:lnR w="9360">
                      <a:solidFill>
                        <a:srgbClr val="DCE6ED"/>
                      </a:solidFill>
                      <a:prstDash val="solid"/>
                    </a:lnR>
                    <a:lnT w="9360">
                      <a:solidFill>
                        <a:srgbClr val="DCE6ED"/>
                      </a:solidFill>
                      <a:prstDash val="solid"/>
                    </a:lnT>
                    <a:lnB w="9360">
                      <a:solidFill>
                        <a:srgbClr val="DCE6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45640">
                <a:tc>
                  <a:txBody>
                    <a:bodyPr lIns="101520" tIns="50760" rIns="101520" bIns="507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1C729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4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DCE6ED"/>
                      </a:solidFill>
                      <a:prstDash val="solid"/>
                    </a:lnL>
                    <a:lnR w="9360">
                      <a:solidFill>
                        <a:srgbClr val="DCE6ED"/>
                      </a:solidFill>
                      <a:prstDash val="solid"/>
                    </a:lnR>
                    <a:lnT w="9360">
                      <a:solidFill>
                        <a:srgbClr val="DCE6ED"/>
                      </a:solidFill>
                      <a:prstDash val="solid"/>
                    </a:lnT>
                    <a:lnB w="9360">
                      <a:solidFill>
                        <a:srgbClr val="DCE6ED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Self-Healing UAV Communication Networks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(Hegde et al., 2026)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DCE6ED"/>
                      </a:solidFill>
                      <a:prstDash val="solid"/>
                    </a:lnL>
                    <a:lnR w="9360">
                      <a:solidFill>
                        <a:srgbClr val="DCE6ED"/>
                      </a:solidFill>
                      <a:prstDash val="solid"/>
                    </a:lnR>
                    <a:lnT w="9360">
                      <a:solidFill>
                        <a:srgbClr val="DCE6ED"/>
                      </a:solidFill>
                      <a:prstDash val="solid"/>
                    </a:lnT>
                    <a:lnB w="9360">
                      <a:solidFill>
                        <a:srgbClr val="DCE6ED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33495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Proposes a self-healing UAV network that dynamically adapts communication strategies after node loss and under interference.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DCE6ED"/>
                      </a:solidFill>
                      <a:prstDash val="solid"/>
                    </a:lnL>
                    <a:lnR w="9360">
                      <a:solidFill>
                        <a:srgbClr val="DCE6ED"/>
                      </a:solidFill>
                      <a:prstDash val="solid"/>
                    </a:lnR>
                    <a:lnT w="9360">
                      <a:solidFill>
                        <a:srgbClr val="DCE6ED"/>
                      </a:solidFill>
                      <a:prstDash val="solid"/>
                    </a:lnT>
                    <a:lnB w="9360">
                      <a:solidFill>
                        <a:srgbClr val="DCE6ED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Addresses network resilience but does not integrate vehicle-level control, MARL policy adaptation, role reassignment, or mission verification.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DCE6ED"/>
                      </a:solidFill>
                      <a:prstDash val="solid"/>
                    </a:lnL>
                    <a:lnR w="9360">
                      <a:solidFill>
                        <a:srgbClr val="DCE6ED"/>
                      </a:solidFill>
                      <a:prstDash val="solid"/>
                    </a:lnR>
                    <a:lnT w="9360">
                      <a:solidFill>
                        <a:srgbClr val="DCE6ED"/>
                      </a:solidFill>
                      <a:prstDash val="solid"/>
                    </a:lnT>
                    <a:lnB w="9360">
                      <a:solidFill>
                        <a:srgbClr val="DCE6ED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</a:tr>
              <a:tr h="845640">
                <a:tc>
                  <a:txBody>
                    <a:bodyPr lIns="101520" tIns="50760" rIns="101520" bIns="507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1C729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DCE6ED"/>
                      </a:solidFill>
                      <a:prstDash val="solid"/>
                    </a:lnL>
                    <a:lnR w="9360">
                      <a:solidFill>
                        <a:srgbClr val="DCE6ED"/>
                      </a:solidFill>
                      <a:prstDash val="solid"/>
                    </a:lnR>
                    <a:lnT w="9360">
                      <a:solidFill>
                        <a:srgbClr val="DCE6ED"/>
                      </a:solidFill>
                      <a:prstDash val="solid"/>
                    </a:lnT>
                    <a:lnB w="9360">
                      <a:solidFill>
                        <a:srgbClr val="DCE6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AI-Enabled Diagnose–Heal–Verify Loop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(Luo et al., 2026)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DCE6ED"/>
                      </a:solidFill>
                      <a:prstDash val="solid"/>
                    </a:lnL>
                    <a:lnR w="9360">
                      <a:solidFill>
                        <a:srgbClr val="DCE6ED"/>
                      </a:solidFill>
                      <a:prstDash val="solid"/>
                    </a:lnR>
                    <a:lnT w="9360">
                      <a:solidFill>
                        <a:srgbClr val="DCE6ED"/>
                      </a:solidFill>
                      <a:prstDash val="solid"/>
                    </a:lnT>
                    <a:lnB w="9360">
                      <a:solidFill>
                        <a:srgbClr val="DCE6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33495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Demonstrates an AI-enabled system that detects damage, initiates autonomous healing, and verifies successful repair through a closed loop.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DCE6ED"/>
                      </a:solidFill>
                      <a:prstDash val="solid"/>
                    </a:lnL>
                    <a:lnR w="9360">
                      <a:solidFill>
                        <a:srgbClr val="DCE6ED"/>
                      </a:solidFill>
                      <a:prstDash val="solid"/>
                    </a:lnR>
                    <a:lnT w="9360">
                      <a:solidFill>
                        <a:srgbClr val="DCE6ED"/>
                      </a:solidFill>
                      <a:prstDash val="solid"/>
                    </a:lnT>
                    <a:lnB w="9360">
                      <a:solidFill>
                        <a:srgbClr val="DCE6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Demonstrated for self-healing materials rather than autonomous multi-agent robotic systems; no MARL or swarm-level validation.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DCE6ED"/>
                      </a:solidFill>
                      <a:prstDash val="solid"/>
                    </a:lnL>
                    <a:lnR w="9360">
                      <a:solidFill>
                        <a:srgbClr val="DCE6ED"/>
                      </a:solidFill>
                      <a:prstDash val="solid"/>
                    </a:lnR>
                    <a:lnT w="9360">
                      <a:solidFill>
                        <a:srgbClr val="DCE6ED"/>
                      </a:solidFill>
                      <a:prstDash val="solid"/>
                    </a:lnT>
                    <a:lnB w="9360">
                      <a:solidFill>
                        <a:srgbClr val="DCE6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9" name="Google Shape;200;p10"/>
          <p:cNvSpPr/>
          <p:nvPr/>
        </p:nvSpPr>
        <p:spPr>
          <a:xfrm>
            <a:off x="11274480" y="6355080"/>
            <a:ext cx="639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C7A99"/>
                </a:solidFill>
                <a:effectLst/>
                <a:uFillTx/>
                <a:latin typeface="Calibri"/>
                <a:ea typeface="Calibri"/>
              </a:rPr>
              <a:t>08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206;p11"/>
          <p:cNvSpPr/>
          <p:nvPr/>
        </p:nvSpPr>
        <p:spPr>
          <a:xfrm>
            <a:off x="548640" y="365760"/>
            <a:ext cx="4571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03  ·  LITERATURE REVIEW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Google Shape;207;p11"/>
          <p:cNvSpPr/>
          <p:nvPr/>
        </p:nvSpPr>
        <p:spPr>
          <a:xfrm>
            <a:off x="502920" y="62172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0B2545"/>
                </a:solidFill>
                <a:effectLst/>
                <a:uFillTx/>
                <a:latin typeface="Cambria"/>
                <a:ea typeface="Cambria"/>
              </a:rPr>
              <a:t>Fault-tolerant multi-agent reinforcement learning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62" name="Google Shape;208;p11"/>
          <p:cNvGraphicFramePr/>
          <p:nvPr/>
        </p:nvGraphicFramePr>
        <p:xfrm>
          <a:off x="502920" y="1280160"/>
          <a:ext cx="11475360" cy="5074560"/>
        </p:xfrm>
        <a:graphic>
          <a:graphicData uri="http://schemas.openxmlformats.org/drawingml/2006/table">
            <a:tbl>
              <a:tblPr/>
              <a:tblGrid>
                <a:gridCol w="411120"/>
                <a:gridCol w="2743200"/>
                <a:gridCol w="4160520"/>
                <a:gridCol w="4160520"/>
              </a:tblGrid>
              <a:tr h="845640">
                <a:tc>
                  <a:txBody>
                    <a:bodyPr lIns="101520" tIns="50760" rIns="101520" bIns="507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S. No.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DCE6ED"/>
                      </a:solidFill>
                      <a:prstDash val="solid"/>
                    </a:lnL>
                    <a:lnR w="9360">
                      <a:solidFill>
                        <a:srgbClr val="DCE6ED"/>
                      </a:solidFill>
                      <a:prstDash val="solid"/>
                    </a:lnR>
                    <a:lnT w="9360">
                      <a:solidFill>
                        <a:srgbClr val="DCE6ED"/>
                      </a:solidFill>
                      <a:prstDash val="solid"/>
                    </a:lnT>
                    <a:lnB w="9360">
                      <a:solidFill>
                        <a:srgbClr val="DCE6E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Title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DCE6ED"/>
                      </a:solidFill>
                      <a:prstDash val="solid"/>
                    </a:lnL>
                    <a:lnR w="9360">
                      <a:solidFill>
                        <a:srgbClr val="DCE6ED"/>
                      </a:solidFill>
                      <a:prstDash val="solid"/>
                    </a:lnR>
                    <a:lnT w="9360">
                      <a:solidFill>
                        <a:srgbClr val="DCE6ED"/>
                      </a:solidFill>
                      <a:prstDash val="solid"/>
                    </a:lnT>
                    <a:lnB w="9360">
                      <a:solidFill>
                        <a:srgbClr val="DCE6E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Brief of the Paper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DCE6ED"/>
                      </a:solidFill>
                      <a:prstDash val="solid"/>
                    </a:lnL>
                    <a:lnR w="9360">
                      <a:solidFill>
                        <a:srgbClr val="DCE6ED"/>
                      </a:solidFill>
                      <a:prstDash val="solid"/>
                    </a:lnR>
                    <a:lnT w="9360">
                      <a:solidFill>
                        <a:srgbClr val="DCE6ED"/>
                      </a:solidFill>
                      <a:prstDash val="solid"/>
                    </a:lnT>
                    <a:lnB w="9360">
                      <a:solidFill>
                        <a:srgbClr val="DCE6E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Shortcomings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DCE6ED"/>
                      </a:solidFill>
                      <a:prstDash val="solid"/>
                    </a:lnL>
                    <a:lnR w="9360">
                      <a:solidFill>
                        <a:srgbClr val="DCE6ED"/>
                      </a:solidFill>
                      <a:prstDash val="solid"/>
                    </a:lnR>
                    <a:lnT w="9360">
                      <a:solidFill>
                        <a:srgbClr val="DCE6ED"/>
                      </a:solidFill>
                      <a:prstDash val="solid"/>
                    </a:lnT>
                    <a:lnB w="9360">
                      <a:solidFill>
                        <a:srgbClr val="DCE6E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</a:tr>
              <a:tr h="845640">
                <a:tc>
                  <a:txBody>
                    <a:bodyPr lIns="101520" tIns="50760" rIns="101520" bIns="507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6B3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6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DCE6ED"/>
                      </a:solidFill>
                      <a:prstDash val="solid"/>
                    </a:lnL>
                    <a:lnR w="9360">
                      <a:solidFill>
                        <a:srgbClr val="DCE6ED"/>
                      </a:solidFill>
                      <a:prstDash val="solid"/>
                    </a:lnR>
                    <a:lnT w="9360">
                      <a:solidFill>
                        <a:srgbClr val="DCE6ED"/>
                      </a:solidFill>
                      <a:prstDash val="solid"/>
                    </a:lnT>
                    <a:lnB w="9360">
                      <a:solidFill>
                        <a:srgbClr val="DCE6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Agentic AI Architecture for UAV Swarms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(Emami et al., 2026)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DCE6ED"/>
                      </a:solidFill>
                      <a:prstDash val="solid"/>
                    </a:lnL>
                    <a:lnR w="9360">
                      <a:solidFill>
                        <a:srgbClr val="DCE6ED"/>
                      </a:solidFill>
                      <a:prstDash val="solid"/>
                    </a:lnR>
                    <a:lnT w="9360">
                      <a:solidFill>
                        <a:srgbClr val="DCE6ED"/>
                      </a:solidFill>
                      <a:prstDash val="solid"/>
                    </a:lnT>
                    <a:lnB w="9360">
                      <a:solidFill>
                        <a:srgbClr val="DCE6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33495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Presents an agentic architecture integrating perception, memory, reasoning, planning and action for adaptive UAV swarm autonomy.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DCE6ED"/>
                      </a:solidFill>
                      <a:prstDash val="solid"/>
                    </a:lnL>
                    <a:lnR w="9360">
                      <a:solidFill>
                        <a:srgbClr val="DCE6ED"/>
                      </a:solidFill>
                      <a:prstDash val="solid"/>
                    </a:lnR>
                    <a:lnT w="9360">
                      <a:solidFill>
                        <a:srgbClr val="DCE6ED"/>
                      </a:solidFill>
                      <a:prstDash val="solid"/>
                    </a:lnT>
                    <a:lnB w="9360">
                      <a:solidFill>
                        <a:srgbClr val="DCE6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Provides an architectural framework but lacks domain-specific validation for marine systems and quantitative evaluation of fault recovery.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DCE6ED"/>
                      </a:solidFill>
                      <a:prstDash val="solid"/>
                    </a:lnL>
                    <a:lnR w="9360">
                      <a:solidFill>
                        <a:srgbClr val="DCE6ED"/>
                      </a:solidFill>
                      <a:prstDash val="solid"/>
                    </a:lnR>
                    <a:lnT w="9360">
                      <a:solidFill>
                        <a:srgbClr val="DCE6ED"/>
                      </a:solidFill>
                      <a:prstDash val="solid"/>
                    </a:lnT>
                    <a:lnB w="9360">
                      <a:solidFill>
                        <a:srgbClr val="DCE6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45640">
                <a:tc>
                  <a:txBody>
                    <a:bodyPr lIns="101520" tIns="50760" rIns="101520" bIns="507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6B3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7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DCE6ED"/>
                      </a:solidFill>
                      <a:prstDash val="solid"/>
                    </a:lnL>
                    <a:lnR w="9360">
                      <a:solidFill>
                        <a:srgbClr val="DCE6ED"/>
                      </a:solidFill>
                      <a:prstDash val="solid"/>
                    </a:lnR>
                    <a:lnT w="9360">
                      <a:solidFill>
                        <a:srgbClr val="DCE6ED"/>
                      </a:solidFill>
                      <a:prstDash val="solid"/>
                    </a:lnT>
                    <a:lnB w="9360">
                      <a:solidFill>
                        <a:srgbClr val="DCE6ED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Implicit Human-Preference Fine-Tuning for USV Swarm MARL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(Kim et al., 2025)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DCE6ED"/>
                      </a:solidFill>
                      <a:prstDash val="solid"/>
                    </a:lnL>
                    <a:lnR w="9360">
                      <a:solidFill>
                        <a:srgbClr val="DCE6ED"/>
                      </a:solidFill>
                      <a:prstDash val="solid"/>
                    </a:lnR>
                    <a:lnT w="9360">
                      <a:solidFill>
                        <a:srgbClr val="DCE6ED"/>
                      </a:solidFill>
                      <a:prstDash val="solid"/>
                    </a:lnT>
                    <a:lnB w="9360">
                      <a:solidFill>
                        <a:srgbClr val="DCE6ED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33495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Fine-tunes USV swarm MARL policies using implicit human preference signals, improving mission behavior without relying entirely on hand-designed rewards.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DCE6ED"/>
                      </a:solidFill>
                      <a:prstDash val="solid"/>
                    </a:lnL>
                    <a:lnR w="9360">
                      <a:solidFill>
                        <a:srgbClr val="DCE6ED"/>
                      </a:solidFill>
                      <a:prstDash val="solid"/>
                    </a:lnR>
                    <a:lnT w="9360">
                      <a:solidFill>
                        <a:srgbClr val="DCE6ED"/>
                      </a:solidFill>
                      <a:prstDash val="solid"/>
                    </a:lnT>
                    <a:lnB w="9360">
                      <a:solidFill>
                        <a:srgbClr val="DCE6ED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Improves policy alignment but does not explicitly address fault diagnosis, agent degradation, dynamic role reassignment, or self-healing.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DCE6ED"/>
                      </a:solidFill>
                      <a:prstDash val="solid"/>
                    </a:lnL>
                    <a:lnR w="9360">
                      <a:solidFill>
                        <a:srgbClr val="DCE6ED"/>
                      </a:solidFill>
                      <a:prstDash val="solid"/>
                    </a:lnR>
                    <a:lnT w="9360">
                      <a:solidFill>
                        <a:srgbClr val="DCE6ED"/>
                      </a:solidFill>
                      <a:prstDash val="solid"/>
                    </a:lnT>
                    <a:lnB w="9360">
                      <a:solidFill>
                        <a:srgbClr val="DCE6ED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</a:tr>
              <a:tr h="845640">
                <a:tc>
                  <a:txBody>
                    <a:bodyPr lIns="101520" tIns="50760" rIns="101520" bIns="507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6B3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8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DCE6ED"/>
                      </a:solidFill>
                      <a:prstDash val="solid"/>
                    </a:lnL>
                    <a:lnR w="9360">
                      <a:solidFill>
                        <a:srgbClr val="DCE6ED"/>
                      </a:solidFill>
                      <a:prstDash val="solid"/>
                    </a:lnR>
                    <a:lnT w="9360">
                      <a:solidFill>
                        <a:srgbClr val="DCE6ED"/>
                      </a:solidFill>
                      <a:prstDash val="solid"/>
                    </a:lnT>
                    <a:lnB w="9360">
                      <a:solidFill>
                        <a:srgbClr val="DCE6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Agentic LLM-Based Robotic Systems: A Review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(Raptis et al., 2025)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DCE6ED"/>
                      </a:solidFill>
                      <a:prstDash val="solid"/>
                    </a:lnL>
                    <a:lnR w="9360">
                      <a:solidFill>
                        <a:srgbClr val="DCE6ED"/>
                      </a:solidFill>
                      <a:prstDash val="solid"/>
                    </a:lnR>
                    <a:lnT w="9360">
                      <a:solidFill>
                        <a:srgbClr val="DCE6ED"/>
                      </a:solidFill>
                      <a:prstDash val="solid"/>
                    </a:lnT>
                    <a:lnB w="9360">
                      <a:solidFill>
                        <a:srgbClr val="DCE6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33495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Reviews agentic LLM-based robotic systems and evaluates their autonomy, goal-directed behavior, adaptability and decision-making capabilities.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DCE6ED"/>
                      </a:solidFill>
                      <a:prstDash val="solid"/>
                    </a:lnL>
                    <a:lnR w="9360">
                      <a:solidFill>
                        <a:srgbClr val="DCE6ED"/>
                      </a:solidFill>
                      <a:prstDash val="solid"/>
                    </a:lnR>
                    <a:lnT w="9360">
                      <a:solidFill>
                        <a:srgbClr val="DCE6ED"/>
                      </a:solidFill>
                      <a:prstDash val="solid"/>
                    </a:lnT>
                    <a:lnB w="9360">
                      <a:solidFill>
                        <a:srgbClr val="DCE6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Provides a broad review rather than a concrete fault-tolerant control architecture or experimental validation for USV swarms.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DCE6ED"/>
                      </a:solidFill>
                      <a:prstDash val="solid"/>
                    </a:lnL>
                    <a:lnR w="9360">
                      <a:solidFill>
                        <a:srgbClr val="DCE6ED"/>
                      </a:solidFill>
                      <a:prstDash val="solid"/>
                    </a:lnR>
                    <a:lnT w="9360">
                      <a:solidFill>
                        <a:srgbClr val="DCE6ED"/>
                      </a:solidFill>
                      <a:prstDash val="solid"/>
                    </a:lnT>
                    <a:lnB w="9360">
                      <a:solidFill>
                        <a:srgbClr val="DCE6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45640">
                <a:tc>
                  <a:txBody>
                    <a:bodyPr lIns="101520" tIns="50760" rIns="101520" bIns="507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6B3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9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DCE6ED"/>
                      </a:solidFill>
                      <a:prstDash val="solid"/>
                    </a:lnL>
                    <a:lnR w="9360">
                      <a:solidFill>
                        <a:srgbClr val="DCE6ED"/>
                      </a:solidFill>
                      <a:prstDash val="solid"/>
                    </a:lnR>
                    <a:lnT w="9360">
                      <a:solidFill>
                        <a:srgbClr val="DCE6ED"/>
                      </a:solidFill>
                      <a:prstDash val="solid"/>
                    </a:lnT>
                    <a:lnB w="9360">
                      <a:solidFill>
                        <a:srgbClr val="DCE6ED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 Survey on UAV Control with Multi-Agent Reinforcement Learning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(Ekechi et al., 2025)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DCE6ED"/>
                      </a:solidFill>
                      <a:prstDash val="solid"/>
                    </a:lnL>
                    <a:lnR w="9360">
                      <a:solidFill>
                        <a:srgbClr val="DCE6ED"/>
                      </a:solidFill>
                      <a:prstDash val="solid"/>
                    </a:lnR>
                    <a:lnT w="9360">
                      <a:solidFill>
                        <a:srgbClr val="DCE6ED"/>
                      </a:solidFill>
                      <a:prstDash val="solid"/>
                    </a:lnT>
                    <a:lnB w="9360">
                      <a:solidFill>
                        <a:srgbClr val="DCE6ED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33495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Surveys MARL methods for UAV coordination, including scalability, cooperation, control and robustness across multi-agent missions.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DCE6ED"/>
                      </a:solidFill>
                      <a:prstDash val="solid"/>
                    </a:lnL>
                    <a:lnR w="9360">
                      <a:solidFill>
                        <a:srgbClr val="DCE6ED"/>
                      </a:solidFill>
                      <a:prstDash val="solid"/>
                    </a:lnR>
                    <a:lnT w="9360">
                      <a:solidFill>
                        <a:srgbClr val="DCE6ED"/>
                      </a:solidFill>
                      <a:prstDash val="solid"/>
                    </a:lnT>
                    <a:lnB w="9360">
                      <a:solidFill>
                        <a:srgbClr val="DCE6ED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Identifies fault tolerance as an emerging area but does not provide an integrated mechanism for diagnosis, recovery and mission verification.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DCE6ED"/>
                      </a:solidFill>
                      <a:prstDash val="solid"/>
                    </a:lnL>
                    <a:lnR w="9360">
                      <a:solidFill>
                        <a:srgbClr val="DCE6ED"/>
                      </a:solidFill>
                      <a:prstDash val="solid"/>
                    </a:lnR>
                    <a:lnT w="9360">
                      <a:solidFill>
                        <a:srgbClr val="DCE6ED"/>
                      </a:solidFill>
                      <a:prstDash val="solid"/>
                    </a:lnT>
                    <a:lnB w="9360">
                      <a:solidFill>
                        <a:srgbClr val="DCE6ED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</a:tr>
              <a:tr h="845640">
                <a:tc>
                  <a:txBody>
                    <a:bodyPr lIns="101520" tIns="50760" rIns="101520" bIns="507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6B3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DCE6ED"/>
                      </a:solidFill>
                      <a:prstDash val="solid"/>
                    </a:lnL>
                    <a:lnR w="9360">
                      <a:solidFill>
                        <a:srgbClr val="DCE6ED"/>
                      </a:solidFill>
                      <a:prstDash val="solid"/>
                    </a:lnR>
                    <a:lnT w="9360">
                      <a:solidFill>
                        <a:srgbClr val="DCE6ED"/>
                      </a:solidFill>
                      <a:prstDash val="solid"/>
                    </a:lnT>
                    <a:lnB w="9360">
                      <a:solidFill>
                        <a:srgbClr val="DCE6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Collaborative USV Target Detection &amp; Localization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(Mao et al., 2024/2025)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DCE6ED"/>
                      </a:solidFill>
                      <a:prstDash val="solid"/>
                    </a:lnL>
                    <a:lnR w="9360">
                      <a:solidFill>
                        <a:srgbClr val="DCE6ED"/>
                      </a:solidFill>
                      <a:prstDash val="solid"/>
                    </a:lnR>
                    <a:lnT w="9360">
                      <a:solidFill>
                        <a:srgbClr val="DCE6ED"/>
                      </a:solidFill>
                      <a:prstDash val="solid"/>
                    </a:lnT>
                    <a:lnB w="9360">
                      <a:solidFill>
                        <a:srgbClr val="DCE6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33495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Uses multi-sensor fusion with LiDAR, marine radar and optical cameras for collaborative USV target detection and localization, improving accuracy over single-USV sensing.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DCE6ED"/>
                      </a:solidFill>
                      <a:prstDash val="solid"/>
                    </a:lnL>
                    <a:lnR w="9360">
                      <a:solidFill>
                        <a:srgbClr val="DCE6ED"/>
                      </a:solidFill>
                      <a:prstDash val="solid"/>
                    </a:lnR>
                    <a:lnT w="9360">
                      <a:solidFill>
                        <a:srgbClr val="DCE6ED"/>
                      </a:solidFill>
                      <a:prstDash val="solid"/>
                    </a:lnT>
                    <a:lnB w="9360">
                      <a:solidFill>
                        <a:srgbClr val="DCE6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Focuses primarily on perception and localization; does not address cooperative control, fault recovery, or degraded-agent operation.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DCE6ED"/>
                      </a:solidFill>
                      <a:prstDash val="solid"/>
                    </a:lnL>
                    <a:lnR w="9360">
                      <a:solidFill>
                        <a:srgbClr val="DCE6ED"/>
                      </a:solidFill>
                      <a:prstDash val="solid"/>
                    </a:lnR>
                    <a:lnT w="9360">
                      <a:solidFill>
                        <a:srgbClr val="DCE6ED"/>
                      </a:solidFill>
                      <a:prstDash val="solid"/>
                    </a:lnT>
                    <a:lnB w="9360">
                      <a:solidFill>
                        <a:srgbClr val="DCE6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3" name="Google Shape;209;p11"/>
          <p:cNvSpPr/>
          <p:nvPr/>
        </p:nvSpPr>
        <p:spPr>
          <a:xfrm>
            <a:off x="11274480" y="6355080"/>
            <a:ext cx="639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C7A99"/>
                </a:solidFill>
                <a:effectLst/>
                <a:uFillTx/>
                <a:latin typeface="Calibri"/>
                <a:ea typeface="Calibri"/>
              </a:rPr>
              <a:t>09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215;p12"/>
          <p:cNvSpPr/>
          <p:nvPr/>
        </p:nvSpPr>
        <p:spPr>
          <a:xfrm>
            <a:off x="548640" y="365760"/>
            <a:ext cx="4571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03  ·  LITERATURE REVIEW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Google Shape;216;p12"/>
          <p:cNvSpPr/>
          <p:nvPr/>
        </p:nvSpPr>
        <p:spPr>
          <a:xfrm>
            <a:off x="502920" y="62172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0B2545"/>
                </a:solidFill>
                <a:effectLst/>
                <a:uFillTx/>
                <a:latin typeface="Cambria"/>
                <a:ea typeface="Cambria"/>
              </a:rPr>
              <a:t>Agentic AI, self-healing architectures &amp; simulation infrastructure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66" name="Google Shape;217;p12"/>
          <p:cNvGraphicFramePr/>
          <p:nvPr/>
        </p:nvGraphicFramePr>
        <p:xfrm>
          <a:off x="502920" y="1280160"/>
          <a:ext cx="11475360" cy="5074560"/>
        </p:xfrm>
        <a:graphic>
          <a:graphicData uri="http://schemas.openxmlformats.org/drawingml/2006/table">
            <a:tbl>
              <a:tblPr/>
              <a:tblGrid>
                <a:gridCol w="411120"/>
                <a:gridCol w="2743200"/>
                <a:gridCol w="4160520"/>
                <a:gridCol w="4160520"/>
              </a:tblGrid>
              <a:tr h="845640">
                <a:tc>
                  <a:txBody>
                    <a:bodyPr lIns="101520" tIns="50760" rIns="101520" bIns="507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S. No.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DCE6ED"/>
                      </a:solidFill>
                      <a:prstDash val="solid"/>
                    </a:lnL>
                    <a:lnR w="9360">
                      <a:solidFill>
                        <a:srgbClr val="DCE6ED"/>
                      </a:solidFill>
                      <a:prstDash val="solid"/>
                    </a:lnR>
                    <a:lnT w="9360">
                      <a:solidFill>
                        <a:srgbClr val="DCE6ED"/>
                      </a:solidFill>
                      <a:prstDash val="solid"/>
                    </a:lnT>
                    <a:lnB w="9360">
                      <a:solidFill>
                        <a:srgbClr val="DCE6E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Title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DCE6ED"/>
                      </a:solidFill>
                      <a:prstDash val="solid"/>
                    </a:lnL>
                    <a:lnR w="9360">
                      <a:solidFill>
                        <a:srgbClr val="DCE6ED"/>
                      </a:solidFill>
                      <a:prstDash val="solid"/>
                    </a:lnR>
                    <a:lnT w="9360">
                      <a:solidFill>
                        <a:srgbClr val="DCE6ED"/>
                      </a:solidFill>
                      <a:prstDash val="solid"/>
                    </a:lnT>
                    <a:lnB w="9360">
                      <a:solidFill>
                        <a:srgbClr val="DCE6E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Brief of the Paper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DCE6ED"/>
                      </a:solidFill>
                      <a:prstDash val="solid"/>
                    </a:lnL>
                    <a:lnR w="9360">
                      <a:solidFill>
                        <a:srgbClr val="DCE6ED"/>
                      </a:solidFill>
                      <a:prstDash val="solid"/>
                    </a:lnR>
                    <a:lnT w="9360">
                      <a:solidFill>
                        <a:srgbClr val="DCE6ED"/>
                      </a:solidFill>
                      <a:prstDash val="solid"/>
                    </a:lnT>
                    <a:lnB w="9360">
                      <a:solidFill>
                        <a:srgbClr val="DCE6E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Shortcomings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DCE6ED"/>
                      </a:solidFill>
                      <a:prstDash val="solid"/>
                    </a:lnL>
                    <a:lnR w="9360">
                      <a:solidFill>
                        <a:srgbClr val="DCE6ED"/>
                      </a:solidFill>
                      <a:prstDash val="solid"/>
                    </a:lnR>
                    <a:lnT w="9360">
                      <a:solidFill>
                        <a:srgbClr val="DCE6ED"/>
                      </a:solidFill>
                      <a:prstDash val="solid"/>
                    </a:lnT>
                    <a:lnB w="9360">
                      <a:solidFill>
                        <a:srgbClr val="DCE6E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</a:tr>
              <a:tr h="845640">
                <a:tc>
                  <a:txBody>
                    <a:bodyPr lIns="101520" tIns="50760" rIns="101520" bIns="507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5FA8A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11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DCE6ED"/>
                      </a:solidFill>
                      <a:prstDash val="solid"/>
                    </a:lnL>
                    <a:lnR w="9360">
                      <a:solidFill>
                        <a:srgbClr val="DCE6ED"/>
                      </a:solidFill>
                      <a:prstDash val="solid"/>
                    </a:lnR>
                    <a:lnT w="9360">
                      <a:solidFill>
                        <a:srgbClr val="DCE6ED"/>
                      </a:solidFill>
                      <a:prstDash val="solid"/>
                    </a:lnT>
                    <a:lnB w="9360">
                      <a:solidFill>
                        <a:srgbClr val="DCE6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Fault-Tolerant MARL for UAV–UGV Coverage Planning — SERT-DQN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(Ramezani et al., 2024)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DCE6ED"/>
                      </a:solidFill>
                      <a:prstDash val="solid"/>
                    </a:lnL>
                    <a:lnR w="9360">
                      <a:solidFill>
                        <a:srgbClr val="DCE6ED"/>
                      </a:solidFill>
                      <a:prstDash val="solid"/>
                    </a:lnR>
                    <a:lnT w="9360">
                      <a:solidFill>
                        <a:srgbClr val="DCE6ED"/>
                      </a:solidFill>
                      <a:prstDash val="solid"/>
                    </a:lnT>
                    <a:lnB w="9360">
                      <a:solidFill>
                        <a:srgbClr val="DCE6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33495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Proposes SERT-DQN for fault-tolerant UAV–UGV coverage planning, using redundancy and shared experience to maintain performance after failures.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DCE6ED"/>
                      </a:solidFill>
                      <a:prstDash val="solid"/>
                    </a:lnL>
                    <a:lnR w="9360">
                      <a:solidFill>
                        <a:srgbClr val="DCE6ED"/>
                      </a:solidFill>
                      <a:prstDash val="solid"/>
                    </a:lnR>
                    <a:lnT w="9360">
                      <a:solidFill>
                        <a:srgbClr val="DCE6ED"/>
                      </a:solidFill>
                      <a:prstDash val="solid"/>
                    </a:lnT>
                    <a:lnB w="9360">
                      <a:solidFill>
                        <a:srgbClr val="DCE6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Demonstrated for UAV–UGV coverage rather than marine swarms; does not provide integrated communication, role-reallocation and mission-verification mechanisms.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DCE6ED"/>
                      </a:solidFill>
                      <a:prstDash val="solid"/>
                    </a:lnL>
                    <a:lnR w="9360">
                      <a:solidFill>
                        <a:srgbClr val="DCE6ED"/>
                      </a:solidFill>
                      <a:prstDash val="solid"/>
                    </a:lnR>
                    <a:lnT w="9360">
                      <a:solidFill>
                        <a:srgbClr val="DCE6ED"/>
                      </a:solidFill>
                      <a:prstDash val="solid"/>
                    </a:lnT>
                    <a:lnB w="9360">
                      <a:solidFill>
                        <a:srgbClr val="DCE6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45640">
                <a:tc>
                  <a:txBody>
                    <a:bodyPr lIns="101520" tIns="50760" rIns="101520" bIns="507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5FA8A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12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DCE6ED"/>
                      </a:solidFill>
                      <a:prstDash val="solid"/>
                    </a:lnL>
                    <a:lnR w="9360">
                      <a:solidFill>
                        <a:srgbClr val="DCE6ED"/>
                      </a:solidFill>
                      <a:prstDash val="solid"/>
                    </a:lnR>
                    <a:lnT w="9360">
                      <a:solidFill>
                        <a:srgbClr val="DCE6ED"/>
                      </a:solidFill>
                      <a:prstDash val="solid"/>
                    </a:lnT>
                    <a:lnB w="9360">
                      <a:solidFill>
                        <a:srgbClr val="DCE6ED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Towards Fault Tolerance in Multi-Agent RL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(Shi et al., 2024)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DCE6ED"/>
                      </a:solidFill>
                      <a:prstDash val="solid"/>
                    </a:lnL>
                    <a:lnR w="9360">
                      <a:solidFill>
                        <a:srgbClr val="DCE6ED"/>
                      </a:solidFill>
                      <a:prstDash val="solid"/>
                    </a:lnR>
                    <a:lnT w="9360">
                      <a:solidFill>
                        <a:srgbClr val="DCE6ED"/>
                      </a:solidFill>
                      <a:prstDash val="solid"/>
                    </a:lnT>
                    <a:lnB w="9360">
                      <a:solidFill>
                        <a:srgbClr val="DCE6ED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33495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Introduces attention-based architectures and fault-aware training strategies to improve MARL robustness against agent faults and fault-induced training imbalance.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DCE6ED"/>
                      </a:solidFill>
                      <a:prstDash val="solid"/>
                    </a:lnL>
                    <a:lnR w="9360">
                      <a:solidFill>
                        <a:srgbClr val="DCE6ED"/>
                      </a:solidFill>
                      <a:prstDash val="solid"/>
                    </a:lnR>
                    <a:lnT w="9360">
                      <a:solidFill>
                        <a:srgbClr val="DCE6ED"/>
                      </a:solidFill>
                      <a:prstDash val="solid"/>
                    </a:lnT>
                    <a:lnB w="9360">
                      <a:solidFill>
                        <a:srgbClr val="DCE6ED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Primarily addresses fault-aware learning and agent-level robustness rather than a complete runtime diagnose–reconfigure–act–verify loop.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DCE6ED"/>
                      </a:solidFill>
                      <a:prstDash val="solid"/>
                    </a:lnL>
                    <a:lnR w="9360">
                      <a:solidFill>
                        <a:srgbClr val="DCE6ED"/>
                      </a:solidFill>
                      <a:prstDash val="solid"/>
                    </a:lnR>
                    <a:lnT w="9360">
                      <a:solidFill>
                        <a:srgbClr val="DCE6ED"/>
                      </a:solidFill>
                      <a:prstDash val="solid"/>
                    </a:lnT>
                    <a:lnB w="9360">
                      <a:solidFill>
                        <a:srgbClr val="DCE6ED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</a:tr>
              <a:tr h="845640">
                <a:tc>
                  <a:txBody>
                    <a:bodyPr lIns="101520" tIns="50760" rIns="101520" bIns="507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5FA8A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13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DCE6ED"/>
                      </a:solidFill>
                      <a:prstDash val="solid"/>
                    </a:lnL>
                    <a:lnR w="9360">
                      <a:solidFill>
                        <a:srgbClr val="DCE6ED"/>
                      </a:solidFill>
                      <a:prstDash val="solid"/>
                    </a:lnR>
                    <a:lnT w="9360">
                      <a:solidFill>
                        <a:srgbClr val="DCE6ED"/>
                      </a:solidFill>
                      <a:prstDash val="solid"/>
                    </a:lnT>
                    <a:lnB w="9360">
                      <a:solidFill>
                        <a:srgbClr val="DCE6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USV Swarm Control &amp; Tracking via MA-DDPG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(Shrudhi et al., 2023)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DCE6ED"/>
                      </a:solidFill>
                      <a:prstDash val="solid"/>
                    </a:lnL>
                    <a:lnR w="9360">
                      <a:solidFill>
                        <a:srgbClr val="DCE6ED"/>
                      </a:solidFill>
                      <a:prstDash val="solid"/>
                    </a:lnR>
                    <a:lnT w="9360">
                      <a:solidFill>
                        <a:srgbClr val="DCE6ED"/>
                      </a:solidFill>
                      <a:prstDash val="solid"/>
                    </a:lnT>
                    <a:lnB w="9360">
                      <a:solidFill>
                        <a:srgbClr val="DCE6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33495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Applies multi-agent DDPG to coordinate USVs tracking a moving surface target. Learned policies improve tracking and coverage compared with rule-based approaches.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DCE6ED"/>
                      </a:solidFill>
                      <a:prstDash val="solid"/>
                    </a:lnL>
                    <a:lnR w="9360">
                      <a:solidFill>
                        <a:srgbClr val="DCE6ED"/>
                      </a:solidFill>
                      <a:prstDash val="solid"/>
                    </a:lnR>
                    <a:lnT w="9360">
                      <a:solidFill>
                        <a:srgbClr val="DCE6ED"/>
                      </a:solidFill>
                      <a:prstDash val="solid"/>
                    </a:lnT>
                    <a:lnB w="9360">
                      <a:solidFill>
                        <a:srgbClr val="DCE6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Assumes healthy agents and reliable communication; does not include fault diagnosis, dynamic role reassignment, or recovery under node/link degradation.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DCE6ED"/>
                      </a:solidFill>
                      <a:prstDash val="solid"/>
                    </a:lnL>
                    <a:lnR w="9360">
                      <a:solidFill>
                        <a:srgbClr val="DCE6ED"/>
                      </a:solidFill>
                      <a:prstDash val="solid"/>
                    </a:lnR>
                    <a:lnT w="9360">
                      <a:solidFill>
                        <a:srgbClr val="DCE6ED"/>
                      </a:solidFill>
                      <a:prstDash val="solid"/>
                    </a:lnT>
                    <a:lnB w="9360">
                      <a:solidFill>
                        <a:srgbClr val="DCE6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45640">
                <a:tc>
                  <a:txBody>
                    <a:bodyPr lIns="101520" tIns="50760" rIns="101520" bIns="507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5FA8A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14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DCE6ED"/>
                      </a:solidFill>
                      <a:prstDash val="solid"/>
                    </a:lnL>
                    <a:lnR w="9360">
                      <a:solidFill>
                        <a:srgbClr val="DCE6ED"/>
                      </a:solidFill>
                      <a:prstDash val="solid"/>
                    </a:lnR>
                    <a:lnT w="9360">
                      <a:solidFill>
                        <a:srgbClr val="DCE6ED"/>
                      </a:solidFill>
                      <a:prstDash val="solid"/>
                    </a:lnT>
                    <a:lnB w="9360">
                      <a:solidFill>
                        <a:srgbClr val="DCE6ED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Attention-Based Fault-Tolerant MARL — FT-Attn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(Gu, Geng &amp; Lan, 2021)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DCE6ED"/>
                      </a:solidFill>
                      <a:prstDash val="solid"/>
                    </a:lnL>
                    <a:lnR w="9360">
                      <a:solidFill>
                        <a:srgbClr val="DCE6ED"/>
                      </a:solidFill>
                      <a:prstDash val="solid"/>
                    </a:lnR>
                    <a:lnT w="9360">
                      <a:solidFill>
                        <a:srgbClr val="DCE6ED"/>
                      </a:solidFill>
                      <a:prstDash val="solid"/>
                    </a:lnT>
                    <a:lnB w="9360">
                      <a:solidFill>
                        <a:srgbClr val="DCE6ED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33495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Uses multi-head attention to identify and reduce the influence of faulty or noisy agents during multi-agent reinforcement learning.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DCE6ED"/>
                      </a:solidFill>
                      <a:prstDash val="solid"/>
                    </a:lnL>
                    <a:lnR w="9360">
                      <a:solidFill>
                        <a:srgbClr val="DCE6ED"/>
                      </a:solidFill>
                      <a:prstDash val="solid"/>
                    </a:lnR>
                    <a:lnT w="9360">
                      <a:solidFill>
                        <a:srgbClr val="DCE6ED"/>
                      </a:solidFill>
                      <a:prstDash val="solid"/>
                    </a:lnT>
                    <a:lnB w="9360">
                      <a:solidFill>
                        <a:srgbClr val="DCE6ED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Focuses on learning-level fault tolerance and does not provide system-level recovery, role reallocation, or mission verification.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DCE6ED"/>
                      </a:solidFill>
                      <a:prstDash val="solid"/>
                    </a:lnL>
                    <a:lnR w="9360">
                      <a:solidFill>
                        <a:srgbClr val="DCE6ED"/>
                      </a:solidFill>
                      <a:prstDash val="solid"/>
                    </a:lnR>
                    <a:lnT w="9360">
                      <a:solidFill>
                        <a:srgbClr val="DCE6ED"/>
                      </a:solidFill>
                      <a:prstDash val="solid"/>
                    </a:lnT>
                    <a:lnB w="9360">
                      <a:solidFill>
                        <a:srgbClr val="DCE6ED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</a:tr>
              <a:tr h="845640">
                <a:tc>
                  <a:txBody>
                    <a:bodyPr lIns="101520" tIns="50760" rIns="101520" bIns="507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5FA8A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DCE6ED"/>
                      </a:solidFill>
                      <a:prstDash val="solid"/>
                    </a:lnL>
                    <a:lnR w="9360">
                      <a:solidFill>
                        <a:srgbClr val="DCE6ED"/>
                      </a:solidFill>
                      <a:prstDash val="solid"/>
                    </a:lnR>
                    <a:lnT w="9360">
                      <a:solidFill>
                        <a:srgbClr val="DCE6ED"/>
                      </a:solidFill>
                      <a:prstDash val="solid"/>
                    </a:lnT>
                    <a:lnB w="9360">
                      <a:solidFill>
                        <a:srgbClr val="DCE6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VRX Simulation Environment for USV Autonomy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(OSRF, 2019)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DCE6ED"/>
                      </a:solidFill>
                      <a:prstDash val="solid"/>
                    </a:lnL>
                    <a:lnR w="9360">
                      <a:solidFill>
                        <a:srgbClr val="DCE6ED"/>
                      </a:solidFill>
                      <a:prstDash val="solid"/>
                    </a:lnR>
                    <a:lnT w="9360">
                      <a:solidFill>
                        <a:srgbClr val="DCE6ED"/>
                      </a:solidFill>
                      <a:prstDash val="solid"/>
                    </a:lnT>
                    <a:lnB w="9360">
                      <a:solidFill>
                        <a:srgbClr val="DCE6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33495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Provides a Gazebo-based simulation environment for USV autonomy with WAM-V dynamics, sensors and realistic maritime disturbances.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DCE6ED"/>
                      </a:solidFill>
                      <a:prstDash val="solid"/>
                    </a:lnL>
                    <a:lnR w="9360">
                      <a:solidFill>
                        <a:srgbClr val="DCE6ED"/>
                      </a:solidFill>
                      <a:prstDash val="solid"/>
                    </a:lnR>
                    <a:lnT w="9360">
                      <a:solidFill>
                        <a:srgbClr val="DCE6ED"/>
                      </a:solidFill>
                      <a:prstDash val="solid"/>
                    </a:lnT>
                    <a:lnB w="9360">
                      <a:solidFill>
                        <a:srgbClr val="DCE6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Provides the simulation infrastructure but does not itself implement agentic fault diagnosis, recovery planning, fault-aware MARL, or mission verification.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DCE6ED"/>
                      </a:solidFill>
                      <a:prstDash val="solid"/>
                    </a:lnL>
                    <a:lnR w="9360">
                      <a:solidFill>
                        <a:srgbClr val="DCE6ED"/>
                      </a:solidFill>
                      <a:prstDash val="solid"/>
                    </a:lnR>
                    <a:lnT w="9360">
                      <a:solidFill>
                        <a:srgbClr val="DCE6ED"/>
                      </a:solidFill>
                      <a:prstDash val="solid"/>
                    </a:lnT>
                    <a:lnB w="9360">
                      <a:solidFill>
                        <a:srgbClr val="DCE6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7" name="Google Shape;218;p12"/>
          <p:cNvSpPr/>
          <p:nvPr/>
        </p:nvSpPr>
        <p:spPr>
          <a:xfrm>
            <a:off x="11274480" y="6355080"/>
            <a:ext cx="639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C7A99"/>
                </a:solidFill>
                <a:effectLst/>
                <a:uFillTx/>
                <a:latin typeface="Calibri"/>
                <a:ea typeface="Calibri"/>
              </a:rPr>
              <a:t>10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223;p13"/>
          <p:cNvSpPr/>
          <p:nvPr/>
        </p:nvSpPr>
        <p:spPr>
          <a:xfrm>
            <a:off x="640080" y="457200"/>
            <a:ext cx="4571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04  ·  OBJECTIVES &amp; SCOPE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Google Shape;224;p13"/>
          <p:cNvSpPr/>
          <p:nvPr/>
        </p:nvSpPr>
        <p:spPr>
          <a:xfrm>
            <a:off x="594360" y="731520"/>
            <a:ext cx="10881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0B2545"/>
                </a:solidFill>
                <a:effectLst/>
                <a:uFillTx/>
                <a:latin typeface="Cambria"/>
                <a:ea typeface="Cambria"/>
              </a:rPr>
              <a:t>Clear objectives, a bounded scope and measurable outcomes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Google Shape;225;p13"/>
          <p:cNvSpPr/>
          <p:nvPr/>
        </p:nvSpPr>
        <p:spPr>
          <a:xfrm>
            <a:off x="640080" y="1371600"/>
            <a:ext cx="9875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Objectives, boundaries and success criteria are fixed before implementation begins — not discovered along the way.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Google Shape;226;p13"/>
          <p:cNvSpPr/>
          <p:nvPr/>
        </p:nvSpPr>
        <p:spPr>
          <a:xfrm>
            <a:off x="640080" y="2057400"/>
            <a:ext cx="5257440" cy="1965600"/>
          </a:xfrm>
          <a:prstGeom prst="rect">
            <a:avLst/>
          </a:prstGeom>
          <a:solidFill>
            <a:srgbClr val="F5F8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Google Shape;227;p13"/>
          <p:cNvSpPr/>
          <p:nvPr/>
        </p:nvSpPr>
        <p:spPr>
          <a:xfrm>
            <a:off x="914400" y="2331720"/>
            <a:ext cx="639720" cy="639720"/>
          </a:xfrm>
          <a:prstGeom prst="ellipse">
            <a:avLst/>
          </a:prstGeom>
          <a:solidFill>
            <a:srgbClr val="FF6B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3" name="Google Shape;228;p13" descr="icons/target_FFFFFF.png"/>
          <p:cNvPicPr/>
          <p:nvPr/>
        </p:nvPicPr>
        <p:blipFill>
          <a:blip r:embed="rId1"/>
          <a:stretch/>
        </p:blipFill>
        <p:spPr>
          <a:xfrm>
            <a:off x="1068120" y="2485440"/>
            <a:ext cx="332640" cy="332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4" name="Google Shape;229;p13"/>
          <p:cNvSpPr/>
          <p:nvPr/>
        </p:nvSpPr>
        <p:spPr>
          <a:xfrm>
            <a:off x="5212080" y="2194560"/>
            <a:ext cx="548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DCE6ED"/>
                </a:solidFill>
                <a:effectLst/>
                <a:uFillTx/>
                <a:latin typeface="Cambria"/>
                <a:ea typeface="Cambria"/>
              </a:rPr>
              <a:t>01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Google Shape;230;p13"/>
          <p:cNvSpPr/>
          <p:nvPr/>
        </p:nvSpPr>
        <p:spPr>
          <a:xfrm>
            <a:off x="1737360" y="2313360"/>
            <a:ext cx="3885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17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B2545"/>
                </a:solidFill>
                <a:effectLst/>
                <a:uFillTx/>
                <a:latin typeface="Calibri"/>
                <a:ea typeface="Calibri"/>
              </a:rPr>
              <a:t>Primary Objectives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Google Shape;231;p13"/>
          <p:cNvSpPr/>
          <p:nvPr/>
        </p:nvSpPr>
        <p:spPr>
          <a:xfrm>
            <a:off x="914400" y="3108960"/>
            <a:ext cx="47088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4586E"/>
                </a:solidFill>
                <a:effectLst/>
                <a:uFillTx/>
                <a:latin typeface="Calibri"/>
                <a:ea typeface="Calibri"/>
              </a:rPr>
              <a:t>Build a fault-aware agentic recovery loop (diagnose – plan – act – verify) for a marine USV swarm and evaluate it against a fault-blind MAPPO baseline.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Google Shape;232;p13"/>
          <p:cNvSpPr/>
          <p:nvPr/>
        </p:nvSpPr>
        <p:spPr>
          <a:xfrm>
            <a:off x="6263640" y="2057400"/>
            <a:ext cx="5257440" cy="1965600"/>
          </a:xfrm>
          <a:prstGeom prst="rect">
            <a:avLst/>
          </a:prstGeom>
          <a:solidFill>
            <a:srgbClr val="F5F8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Google Shape;233;p13"/>
          <p:cNvSpPr/>
          <p:nvPr/>
        </p:nvSpPr>
        <p:spPr>
          <a:xfrm>
            <a:off x="6537960" y="2331720"/>
            <a:ext cx="639720" cy="63972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9" name="Google Shape;234;p13" descr="icons/route_FFFFFF.png"/>
          <p:cNvPicPr/>
          <p:nvPr/>
        </p:nvPicPr>
        <p:blipFill>
          <a:blip r:embed="rId2"/>
          <a:stretch/>
        </p:blipFill>
        <p:spPr>
          <a:xfrm>
            <a:off x="6691680" y="2485440"/>
            <a:ext cx="332640" cy="332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0" name="Google Shape;235;p13"/>
          <p:cNvSpPr/>
          <p:nvPr/>
        </p:nvSpPr>
        <p:spPr>
          <a:xfrm>
            <a:off x="10835640" y="2194560"/>
            <a:ext cx="548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DCE6ED"/>
                </a:solidFill>
                <a:effectLst/>
                <a:uFillTx/>
                <a:latin typeface="Cambria"/>
                <a:ea typeface="Cambria"/>
              </a:rPr>
              <a:t>02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Google Shape;236;p13"/>
          <p:cNvSpPr/>
          <p:nvPr/>
        </p:nvSpPr>
        <p:spPr>
          <a:xfrm>
            <a:off x="7360920" y="2313360"/>
            <a:ext cx="3885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17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B2545"/>
                </a:solidFill>
                <a:effectLst/>
                <a:uFillTx/>
                <a:latin typeface="Calibri"/>
                <a:ea typeface="Calibri"/>
              </a:rPr>
              <a:t>In-Scope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Google Shape;237;p13"/>
          <p:cNvSpPr/>
          <p:nvPr/>
        </p:nvSpPr>
        <p:spPr>
          <a:xfrm>
            <a:off x="6537960" y="3108960"/>
            <a:ext cx="47088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4586E"/>
                </a:solidFill>
                <a:effectLst/>
                <a:uFillTx/>
                <a:latin typeface="Calibri"/>
                <a:ea typeface="Calibri"/>
              </a:rPr>
              <a:t>2D Python/PettingZoo simulation, up to 10 USVs, one moving target, sensor/robot/network faults, FA-MAPPO policy and a small VRX validation subset.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Google Shape;238;p13"/>
          <p:cNvSpPr/>
          <p:nvPr/>
        </p:nvSpPr>
        <p:spPr>
          <a:xfrm>
            <a:off x="640080" y="4343400"/>
            <a:ext cx="5257440" cy="1965600"/>
          </a:xfrm>
          <a:prstGeom prst="rect">
            <a:avLst/>
          </a:prstGeom>
          <a:solidFill>
            <a:srgbClr val="F5F8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Google Shape;239;p13"/>
          <p:cNvSpPr/>
          <p:nvPr/>
        </p:nvSpPr>
        <p:spPr>
          <a:xfrm>
            <a:off x="914400" y="4617720"/>
            <a:ext cx="639720" cy="639720"/>
          </a:xfrm>
          <a:prstGeom prst="ellipse">
            <a:avLst/>
          </a:prstGeom>
          <a:solidFill>
            <a:srgbClr val="FF6B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5" name="Google Shape;240;p13" descr="icons/shield_FFFFFF.png"/>
          <p:cNvPicPr/>
          <p:nvPr/>
        </p:nvPicPr>
        <p:blipFill>
          <a:blip r:embed="rId3"/>
          <a:stretch/>
        </p:blipFill>
        <p:spPr>
          <a:xfrm>
            <a:off x="1068120" y="4771440"/>
            <a:ext cx="332640" cy="332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6" name="Google Shape;241;p13"/>
          <p:cNvSpPr/>
          <p:nvPr/>
        </p:nvSpPr>
        <p:spPr>
          <a:xfrm>
            <a:off x="5212080" y="4480560"/>
            <a:ext cx="548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DCE6ED"/>
                </a:solidFill>
                <a:effectLst/>
                <a:uFillTx/>
                <a:latin typeface="Cambria"/>
                <a:ea typeface="Cambria"/>
              </a:rPr>
              <a:t>03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Google Shape;242;p13"/>
          <p:cNvSpPr/>
          <p:nvPr/>
        </p:nvSpPr>
        <p:spPr>
          <a:xfrm>
            <a:off x="1737360" y="4599360"/>
            <a:ext cx="3885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17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B2545"/>
                </a:solidFill>
                <a:effectLst/>
                <a:uFillTx/>
                <a:latin typeface="Calibri"/>
                <a:ea typeface="Calibri"/>
              </a:rPr>
              <a:t>Out-of-Scope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Google Shape;243;p13"/>
          <p:cNvSpPr/>
          <p:nvPr/>
        </p:nvSpPr>
        <p:spPr>
          <a:xfrm>
            <a:off x="914400" y="5394960"/>
            <a:ext cx="47088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4586E"/>
                </a:solidFill>
                <a:effectLst/>
                <a:uFillTx/>
                <a:latin typeface="Calibri"/>
                <a:ea typeface="Calibri"/>
              </a:rPr>
              <a:t>Physical hardware trials, real-world deployment, offensive or destructive payloads and multi-target interception — reserved for future work.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Google Shape;244;p13"/>
          <p:cNvSpPr/>
          <p:nvPr/>
        </p:nvSpPr>
        <p:spPr>
          <a:xfrm>
            <a:off x="6263640" y="4343400"/>
            <a:ext cx="5257440" cy="1965600"/>
          </a:xfrm>
          <a:prstGeom prst="rect">
            <a:avLst/>
          </a:prstGeom>
          <a:solidFill>
            <a:srgbClr val="F5F8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Google Shape;245;p13"/>
          <p:cNvSpPr/>
          <p:nvPr/>
        </p:nvSpPr>
        <p:spPr>
          <a:xfrm>
            <a:off x="6537960" y="4617720"/>
            <a:ext cx="639720" cy="63972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1" name="Google Shape;246;p13" descr="icons/check_FFFFFF.png"/>
          <p:cNvPicPr/>
          <p:nvPr/>
        </p:nvPicPr>
        <p:blipFill>
          <a:blip r:embed="rId4"/>
          <a:stretch/>
        </p:blipFill>
        <p:spPr>
          <a:xfrm>
            <a:off x="6691680" y="4771440"/>
            <a:ext cx="332640" cy="332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2" name="Google Shape;247;p13"/>
          <p:cNvSpPr/>
          <p:nvPr/>
        </p:nvSpPr>
        <p:spPr>
          <a:xfrm>
            <a:off x="10835640" y="4480560"/>
            <a:ext cx="548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DCE6ED"/>
                </a:solidFill>
                <a:effectLst/>
                <a:uFillTx/>
                <a:latin typeface="Cambria"/>
                <a:ea typeface="Cambria"/>
              </a:rPr>
              <a:t>04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Google Shape;248;p13"/>
          <p:cNvSpPr/>
          <p:nvPr/>
        </p:nvSpPr>
        <p:spPr>
          <a:xfrm>
            <a:off x="7360920" y="4599360"/>
            <a:ext cx="3885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17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B2545"/>
                </a:solidFill>
                <a:effectLst/>
                <a:uFillTx/>
                <a:latin typeface="Calibri"/>
                <a:ea typeface="Calibri"/>
              </a:rPr>
              <a:t>Expected Outcomes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Google Shape;249;p13"/>
          <p:cNvSpPr/>
          <p:nvPr/>
        </p:nvSpPr>
        <p:spPr>
          <a:xfrm>
            <a:off x="6537960" y="5394960"/>
            <a:ext cx="47088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4586E"/>
                </a:solidFill>
                <a:effectLst/>
                <a:uFillTx/>
                <a:latin typeface="Calibri"/>
                <a:ea typeface="Calibri"/>
              </a:rPr>
              <a:t>A reproducible simulator, a trained diagnosis + FA-MAPPO policy, and a research paper showing measurable gains over fault-blind MAPPO.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Google Shape;250;p13"/>
          <p:cNvSpPr/>
          <p:nvPr/>
        </p:nvSpPr>
        <p:spPr>
          <a:xfrm>
            <a:off x="11274480" y="6355080"/>
            <a:ext cx="639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C7A99"/>
                </a:solidFill>
                <a:effectLst/>
                <a:uFillTx/>
                <a:latin typeface="Calibri"/>
                <a:ea typeface="Calibri"/>
              </a:rPr>
              <a:t>11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256;p14"/>
          <p:cNvSpPr/>
          <p:nvPr/>
        </p:nvSpPr>
        <p:spPr>
          <a:xfrm>
            <a:off x="640080" y="457200"/>
            <a:ext cx="4571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7FC7C2"/>
                </a:solidFill>
                <a:effectLst/>
                <a:uFillTx/>
                <a:latin typeface="Calibri"/>
                <a:ea typeface="Calibri"/>
              </a:rPr>
              <a:t>05  ·  PROPOSED SOLUTION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Google Shape;257;p14"/>
          <p:cNvSpPr/>
          <p:nvPr/>
        </p:nvSpPr>
        <p:spPr>
          <a:xfrm>
            <a:off x="594360" y="731520"/>
            <a:ext cx="10881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Agentic AI wraps diagnosis, planning and verification around MARL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Google Shape;258;p14"/>
          <p:cNvSpPr/>
          <p:nvPr/>
        </p:nvSpPr>
        <p:spPr>
          <a:xfrm>
            <a:off x="777240" y="1920240"/>
            <a:ext cx="1051200" cy="105120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9" name="Google Shape;259;p14" descr="icons/search_FFFFFF.png"/>
          <p:cNvPicPr/>
          <p:nvPr/>
        </p:nvPicPr>
        <p:blipFill>
          <a:blip r:embed="rId1"/>
          <a:stretch/>
        </p:blipFill>
        <p:spPr>
          <a:xfrm>
            <a:off x="1029600" y="2172600"/>
            <a:ext cx="546480" cy="54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0" name="Google Shape;260;p14"/>
          <p:cNvSpPr/>
          <p:nvPr/>
        </p:nvSpPr>
        <p:spPr>
          <a:xfrm>
            <a:off x="365760" y="3081600"/>
            <a:ext cx="1874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6B35"/>
                </a:solidFill>
                <a:effectLst/>
                <a:uFillTx/>
                <a:latin typeface="Calibri"/>
                <a:ea typeface="Calibri"/>
              </a:rPr>
              <a:t>MONITOR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Google Shape;261;p14"/>
          <p:cNvSpPr/>
          <p:nvPr/>
        </p:nvSpPr>
        <p:spPr>
          <a:xfrm>
            <a:off x="274320" y="3429000"/>
            <a:ext cx="2057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3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B9CDE0"/>
                </a:solidFill>
                <a:effectLst/>
                <a:uFillTx/>
                <a:latin typeface="Calibri"/>
                <a:ea typeface="Calibri"/>
              </a:rPr>
              <a:t>Telemetry + target belief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202" name="Google Shape;262;p14"/>
          <p:cNvCxnSpPr/>
          <p:nvPr/>
        </p:nvCxnSpPr>
        <p:spPr>
          <a:xfrm>
            <a:off x="1828800" y="2445840"/>
            <a:ext cx="1337400" cy="360"/>
          </a:xfrm>
          <a:prstGeom prst="straightConnector1">
            <a:avLst/>
          </a:prstGeom>
          <a:ln w="25400">
            <a:solidFill>
              <a:srgbClr val="5FA8A0"/>
            </a:solidFill>
            <a:round/>
            <a:tailEnd len="med" type="triangle" w="med"/>
          </a:ln>
        </p:spPr>
      </p:cxnSp>
      <p:sp>
        <p:nvSpPr>
          <p:cNvPr id="203" name="Google Shape;263;p14"/>
          <p:cNvSpPr/>
          <p:nvPr/>
        </p:nvSpPr>
        <p:spPr>
          <a:xfrm>
            <a:off x="3166200" y="1920240"/>
            <a:ext cx="1051200" cy="105120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4" name="Google Shape;264;p14" descr="icons/warning_FFFFFF.png"/>
          <p:cNvPicPr/>
          <p:nvPr/>
        </p:nvPicPr>
        <p:blipFill>
          <a:blip r:embed="rId2"/>
          <a:stretch/>
        </p:blipFill>
        <p:spPr>
          <a:xfrm>
            <a:off x="3418560" y="2172600"/>
            <a:ext cx="546480" cy="54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5" name="Google Shape;265;p14"/>
          <p:cNvSpPr/>
          <p:nvPr/>
        </p:nvSpPr>
        <p:spPr>
          <a:xfrm>
            <a:off x="2754720" y="3081600"/>
            <a:ext cx="1874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6B35"/>
                </a:solidFill>
                <a:effectLst/>
                <a:uFillTx/>
                <a:latin typeface="Calibri"/>
                <a:ea typeface="Calibri"/>
              </a:rPr>
              <a:t>DIAGNOSE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Google Shape;266;p14"/>
          <p:cNvSpPr/>
          <p:nvPr/>
        </p:nvSpPr>
        <p:spPr>
          <a:xfrm>
            <a:off x="2663280" y="3429000"/>
            <a:ext cx="2057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3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B9CDE0"/>
                </a:solidFill>
                <a:effectLst/>
                <a:uFillTx/>
                <a:latin typeface="Calibri"/>
                <a:ea typeface="Calibri"/>
              </a:rPr>
              <a:t>Fault class + confidence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207" name="Google Shape;267;p14"/>
          <p:cNvCxnSpPr/>
          <p:nvPr/>
        </p:nvCxnSpPr>
        <p:spPr>
          <a:xfrm>
            <a:off x="4217400" y="2445840"/>
            <a:ext cx="1337760" cy="360"/>
          </a:xfrm>
          <a:prstGeom prst="straightConnector1">
            <a:avLst/>
          </a:prstGeom>
          <a:ln w="25400">
            <a:solidFill>
              <a:srgbClr val="5FA8A0"/>
            </a:solidFill>
            <a:round/>
            <a:tailEnd len="med" type="triangle" w="med"/>
          </a:ln>
        </p:spPr>
      </p:cxnSp>
      <p:sp>
        <p:nvSpPr>
          <p:cNvPr id="208" name="Google Shape;268;p14"/>
          <p:cNvSpPr/>
          <p:nvPr/>
        </p:nvSpPr>
        <p:spPr>
          <a:xfrm>
            <a:off x="5555160" y="1920240"/>
            <a:ext cx="1051200" cy="105120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9" name="Google Shape;269;p14" descr="icons/route_FFFFFF.png"/>
          <p:cNvPicPr/>
          <p:nvPr/>
        </p:nvPicPr>
        <p:blipFill>
          <a:blip r:embed="rId3"/>
          <a:stretch/>
        </p:blipFill>
        <p:spPr>
          <a:xfrm>
            <a:off x="5807520" y="2172600"/>
            <a:ext cx="546480" cy="54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0" name="Google Shape;270;p14"/>
          <p:cNvSpPr/>
          <p:nvPr/>
        </p:nvSpPr>
        <p:spPr>
          <a:xfrm>
            <a:off x="5143680" y="3081600"/>
            <a:ext cx="1874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6B35"/>
                </a:solidFill>
                <a:effectLst/>
                <a:uFillTx/>
                <a:latin typeface="Calibri"/>
                <a:ea typeface="Calibri"/>
              </a:rPr>
              <a:t>PLAN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Google Shape;271;p14"/>
          <p:cNvSpPr/>
          <p:nvPr/>
        </p:nvSpPr>
        <p:spPr>
          <a:xfrm>
            <a:off x="5052240" y="3429000"/>
            <a:ext cx="2057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3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B9CDE0"/>
                </a:solidFill>
                <a:effectLst/>
                <a:uFillTx/>
                <a:latin typeface="Calibri"/>
                <a:ea typeface="Calibri"/>
              </a:rPr>
              <a:t>Role &amp; recovery action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212" name="Google Shape;272;p14"/>
          <p:cNvCxnSpPr/>
          <p:nvPr/>
        </p:nvCxnSpPr>
        <p:spPr>
          <a:xfrm>
            <a:off x="6606360" y="2445840"/>
            <a:ext cx="1337760" cy="360"/>
          </a:xfrm>
          <a:prstGeom prst="straightConnector1">
            <a:avLst/>
          </a:prstGeom>
          <a:ln w="25400">
            <a:solidFill>
              <a:srgbClr val="5FA8A0"/>
            </a:solidFill>
            <a:round/>
            <a:tailEnd len="med" type="triangle" w="med"/>
          </a:ln>
        </p:spPr>
      </p:cxnSp>
      <p:sp>
        <p:nvSpPr>
          <p:cNvPr id="213" name="Google Shape;273;p14"/>
          <p:cNvSpPr/>
          <p:nvPr/>
        </p:nvSpPr>
        <p:spPr>
          <a:xfrm>
            <a:off x="7943760" y="1920240"/>
            <a:ext cx="1051200" cy="105120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4" name="Google Shape;274;p14" descr="icons/sync_FFFFFF.png"/>
          <p:cNvPicPr/>
          <p:nvPr/>
        </p:nvPicPr>
        <p:blipFill>
          <a:blip r:embed="rId4"/>
          <a:stretch/>
        </p:blipFill>
        <p:spPr>
          <a:xfrm>
            <a:off x="8196120" y="2172600"/>
            <a:ext cx="546480" cy="54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5" name="Google Shape;275;p14"/>
          <p:cNvSpPr/>
          <p:nvPr/>
        </p:nvSpPr>
        <p:spPr>
          <a:xfrm>
            <a:off x="7532280" y="3081600"/>
            <a:ext cx="1874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6B35"/>
                </a:solidFill>
                <a:effectLst/>
                <a:uFillTx/>
                <a:latin typeface="Calibri"/>
                <a:ea typeface="Calibri"/>
              </a:rPr>
              <a:t>ACT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Google Shape;276;p14"/>
          <p:cNvSpPr/>
          <p:nvPr/>
        </p:nvSpPr>
        <p:spPr>
          <a:xfrm>
            <a:off x="7440840" y="3429000"/>
            <a:ext cx="2057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3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B9CDE0"/>
                </a:solidFill>
                <a:effectLst/>
                <a:uFillTx/>
                <a:latin typeface="Calibri"/>
                <a:ea typeface="Calibri"/>
              </a:rPr>
              <a:t>FA-MAPPO waypoint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217" name="Google Shape;277;p14"/>
          <p:cNvCxnSpPr/>
          <p:nvPr/>
        </p:nvCxnSpPr>
        <p:spPr>
          <a:xfrm>
            <a:off x="8995320" y="2445840"/>
            <a:ext cx="1337760" cy="360"/>
          </a:xfrm>
          <a:prstGeom prst="straightConnector1">
            <a:avLst/>
          </a:prstGeom>
          <a:ln w="25400">
            <a:solidFill>
              <a:srgbClr val="5FA8A0"/>
            </a:solidFill>
            <a:round/>
            <a:tailEnd len="med" type="triangle" w="med"/>
          </a:ln>
        </p:spPr>
      </p:cxnSp>
      <p:sp>
        <p:nvSpPr>
          <p:cNvPr id="218" name="Google Shape;278;p14"/>
          <p:cNvSpPr/>
          <p:nvPr/>
        </p:nvSpPr>
        <p:spPr>
          <a:xfrm>
            <a:off x="10332720" y="1920240"/>
            <a:ext cx="1051200" cy="105120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9" name="Google Shape;279;p14" descr="icons/check_FFFFFF.png"/>
          <p:cNvPicPr/>
          <p:nvPr/>
        </p:nvPicPr>
        <p:blipFill>
          <a:blip r:embed="rId5"/>
          <a:stretch/>
        </p:blipFill>
        <p:spPr>
          <a:xfrm>
            <a:off x="10585080" y="2172600"/>
            <a:ext cx="546480" cy="54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0" name="Google Shape;280;p14"/>
          <p:cNvSpPr/>
          <p:nvPr/>
        </p:nvSpPr>
        <p:spPr>
          <a:xfrm>
            <a:off x="9921240" y="3081600"/>
            <a:ext cx="1874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6B35"/>
                </a:solidFill>
                <a:effectLst/>
                <a:uFillTx/>
                <a:latin typeface="Calibri"/>
                <a:ea typeface="Calibri"/>
              </a:rPr>
              <a:t>VERIFY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Google Shape;281;p14"/>
          <p:cNvSpPr/>
          <p:nvPr/>
        </p:nvSpPr>
        <p:spPr>
          <a:xfrm>
            <a:off x="9829800" y="3429000"/>
            <a:ext cx="2057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3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B9CDE0"/>
                </a:solidFill>
                <a:effectLst/>
                <a:uFillTx/>
                <a:latin typeface="Calibri"/>
                <a:ea typeface="Calibri"/>
              </a:rPr>
              <a:t>Mission health check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Google Shape;282;p14"/>
          <p:cNvSpPr/>
          <p:nvPr/>
        </p:nvSpPr>
        <p:spPr>
          <a:xfrm>
            <a:off x="777240" y="4160520"/>
            <a:ext cx="10606680" cy="776880"/>
          </a:xfrm>
          <a:prstGeom prst="rect">
            <a:avLst/>
          </a:prstGeom>
          <a:solidFill>
            <a:srgbClr val="1331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Google Shape;283;p14"/>
          <p:cNvSpPr/>
          <p:nvPr/>
        </p:nvSpPr>
        <p:spPr>
          <a:xfrm>
            <a:off x="1005840" y="4279320"/>
            <a:ext cx="2011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6B35"/>
                </a:solidFill>
                <a:effectLst/>
                <a:uFillTx/>
                <a:latin typeface="Calibri"/>
                <a:ea typeface="Calibri"/>
              </a:rPr>
              <a:t>MISSION MEMORY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Google Shape;284;p14"/>
          <p:cNvSpPr/>
          <p:nvPr/>
        </p:nvSpPr>
        <p:spPr>
          <a:xfrm>
            <a:off x="3017520" y="4279320"/>
            <a:ext cx="8137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Fault history  •  attempted recovery  •  outcome  •  confidence update — feeds every future MONITOR pass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Google Shape;285;p14"/>
          <p:cNvSpPr/>
          <p:nvPr/>
        </p:nvSpPr>
        <p:spPr>
          <a:xfrm>
            <a:off x="777240" y="5212080"/>
            <a:ext cx="10606680" cy="1051200"/>
          </a:xfrm>
          <a:prstGeom prst="rect">
            <a:avLst/>
          </a:prstGeom>
          <a:solidFill>
            <a:srgbClr val="13315C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Google Shape;286;p14"/>
          <p:cNvSpPr/>
          <p:nvPr/>
        </p:nvSpPr>
        <p:spPr>
          <a:xfrm>
            <a:off x="1051560" y="5349240"/>
            <a:ext cx="100580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8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7FC7C2"/>
                </a:solidFill>
                <a:effectLst/>
                <a:uFillTx/>
                <a:latin typeface="Calibri"/>
                <a:ea typeface="Calibri"/>
              </a:rPr>
              <a:t>Safety by design:  </a:t>
            </a: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the LLM/agentic layer is optional and never commands thrusters directly. A deterministic safety layer constrains every physical action it proposes.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Google Shape;287;p14"/>
          <p:cNvSpPr/>
          <p:nvPr/>
        </p:nvSpPr>
        <p:spPr>
          <a:xfrm>
            <a:off x="640080" y="6446520"/>
            <a:ext cx="9143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50" b="0" i="1" u="none" strike="noStrike">
                <a:solidFill>
                  <a:srgbClr val="6E93B5"/>
                </a:solidFill>
                <a:effectLst/>
                <a:uFillTx/>
                <a:latin typeface="Calibri"/>
                <a:ea typeface="Calibri"/>
              </a:rPr>
              <a:t>Framing informed by Emami et al., arXiv:2607.09756 — extended here to marine multi-fault recovery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Google Shape;288;p14"/>
          <p:cNvSpPr/>
          <p:nvPr/>
        </p:nvSpPr>
        <p:spPr>
          <a:xfrm>
            <a:off x="11274480" y="6355080"/>
            <a:ext cx="639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E93B5"/>
                </a:solidFill>
                <a:effectLst/>
                <a:uFillTx/>
                <a:latin typeface="Calibri"/>
                <a:ea typeface="Calibri"/>
              </a:rPr>
              <a:t>12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94;p15"/>
          <p:cNvSpPr/>
          <p:nvPr/>
        </p:nvSpPr>
        <p:spPr>
          <a:xfrm>
            <a:off x="640080" y="457200"/>
            <a:ext cx="4571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05  ·  PROPOSED SOLUTION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Google Shape;295;p15"/>
          <p:cNvSpPr/>
          <p:nvPr/>
        </p:nvSpPr>
        <p:spPr>
          <a:xfrm>
            <a:off x="594360" y="731520"/>
            <a:ext cx="10881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0B2545"/>
                </a:solidFill>
                <a:effectLst/>
                <a:uFillTx/>
                <a:latin typeface="Cambria"/>
                <a:ea typeface="Cambria"/>
              </a:rPr>
              <a:t>Two learning components create a fault-aware control policy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Google Shape;296;p15"/>
          <p:cNvSpPr/>
          <p:nvPr/>
        </p:nvSpPr>
        <p:spPr>
          <a:xfrm>
            <a:off x="640080" y="1554480"/>
            <a:ext cx="5257440" cy="4663080"/>
          </a:xfrm>
          <a:prstGeom prst="rect">
            <a:avLst/>
          </a:prstGeom>
          <a:solidFill>
            <a:srgbClr val="F5F8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Google Shape;297;p15"/>
          <p:cNvSpPr/>
          <p:nvPr/>
        </p:nvSpPr>
        <p:spPr>
          <a:xfrm>
            <a:off x="914400" y="1828800"/>
            <a:ext cx="548280" cy="548280"/>
          </a:xfrm>
          <a:prstGeom prst="ellipse">
            <a:avLst/>
          </a:prstGeom>
          <a:solidFill>
            <a:srgbClr val="FF6B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3" name="Google Shape;298;p15" descr="icons/warning_FFFFFF.png"/>
          <p:cNvPicPr/>
          <p:nvPr/>
        </p:nvPicPr>
        <p:blipFill>
          <a:blip r:embed="rId1"/>
          <a:stretch/>
        </p:blipFill>
        <p:spPr>
          <a:xfrm>
            <a:off x="1046160" y="1960560"/>
            <a:ext cx="284760" cy="28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4" name="Google Shape;299;p15"/>
          <p:cNvSpPr/>
          <p:nvPr/>
        </p:nvSpPr>
        <p:spPr>
          <a:xfrm>
            <a:off x="1600200" y="1874520"/>
            <a:ext cx="4068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B2545"/>
                </a:solidFill>
                <a:effectLst/>
                <a:uFillTx/>
                <a:latin typeface="Calibri"/>
                <a:ea typeface="Calibri"/>
              </a:rPr>
              <a:t>1.  Learned Fault Diagnosis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Google Shape;300;p15"/>
          <p:cNvSpPr/>
          <p:nvPr/>
        </p:nvSpPr>
        <p:spPr>
          <a:xfrm>
            <a:off x="1600200" y="2304360"/>
            <a:ext cx="4068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Model: XGBoost or GRU classifier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Google Shape;301;p15"/>
          <p:cNvSpPr/>
          <p:nvPr/>
        </p:nvSpPr>
        <p:spPr>
          <a:xfrm>
            <a:off x="960120" y="283464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5C7A99"/>
                </a:solidFill>
                <a:effectLst/>
                <a:uFillTx/>
                <a:latin typeface="Calibri"/>
                <a:ea typeface="Calibri"/>
              </a:rPr>
              <a:t>INPUTS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Google Shape;302;p15"/>
          <p:cNvSpPr/>
          <p:nvPr/>
        </p:nvSpPr>
        <p:spPr>
          <a:xfrm>
            <a:off x="960120" y="3127320"/>
            <a:ext cx="46173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33495F"/>
                </a:solidFill>
                <a:effectLst/>
                <a:uFillTx/>
                <a:latin typeface="Calibri"/>
                <a:ea typeface="Calibri"/>
              </a:rPr>
              <a:t>•  GPS – odometry residual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Google Shape;303;p15"/>
          <p:cNvSpPr/>
          <p:nvPr/>
        </p:nvSpPr>
        <p:spPr>
          <a:xfrm>
            <a:off x="960120" y="3438000"/>
            <a:ext cx="46173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33495F"/>
                </a:solidFill>
                <a:effectLst/>
                <a:uFillTx/>
                <a:latin typeface="Calibri"/>
                <a:ea typeface="Calibri"/>
              </a:rPr>
              <a:t>•  IMU residual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Google Shape;304;p15"/>
          <p:cNvSpPr/>
          <p:nvPr/>
        </p:nvSpPr>
        <p:spPr>
          <a:xfrm>
            <a:off x="960120" y="3749040"/>
            <a:ext cx="46173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33495F"/>
                </a:solidFill>
                <a:effectLst/>
                <a:uFillTx/>
                <a:latin typeface="Calibri"/>
                <a:ea typeface="Calibri"/>
              </a:rPr>
              <a:t>•  Commanded vs. actual speed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Google Shape;305;p15"/>
          <p:cNvSpPr/>
          <p:nvPr/>
        </p:nvSpPr>
        <p:spPr>
          <a:xfrm>
            <a:off x="960120" y="4060080"/>
            <a:ext cx="46173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33495F"/>
                </a:solidFill>
                <a:effectLst/>
                <a:uFillTx/>
                <a:latin typeface="Calibri"/>
                <a:ea typeface="Calibri"/>
              </a:rPr>
              <a:t>•  Detection confidence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Google Shape;306;p15"/>
          <p:cNvSpPr/>
          <p:nvPr/>
        </p:nvSpPr>
        <p:spPr>
          <a:xfrm>
            <a:off x="960120" y="4370760"/>
            <a:ext cx="46173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33495F"/>
                </a:solidFill>
                <a:effectLst/>
                <a:uFillTx/>
                <a:latin typeface="Calibri"/>
                <a:ea typeface="Calibri"/>
              </a:rPr>
              <a:t>•  Packet loss &amp; battery trend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42" name="Google Shape;307;p15"/>
          <p:cNvCxnSpPr/>
          <p:nvPr/>
        </p:nvCxnSpPr>
        <p:spPr>
          <a:xfrm>
            <a:off x="960120" y="4846320"/>
            <a:ext cx="4618080" cy="360"/>
          </a:xfrm>
          <a:prstGeom prst="straightConnector1">
            <a:avLst/>
          </a:prstGeom>
          <a:ln w="12700">
            <a:solidFill>
              <a:srgbClr val="DCE6ED"/>
            </a:solidFill>
            <a:round/>
          </a:ln>
        </p:spPr>
      </p:cxnSp>
      <p:sp>
        <p:nvSpPr>
          <p:cNvPr id="243" name="Google Shape;308;p15"/>
          <p:cNvSpPr/>
          <p:nvPr/>
        </p:nvSpPr>
        <p:spPr>
          <a:xfrm>
            <a:off x="960120" y="495612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5C7A99"/>
                </a:solidFill>
                <a:effectLst/>
                <a:uFillTx/>
                <a:latin typeface="Calibri"/>
                <a:ea typeface="Calibri"/>
              </a:rPr>
              <a:t>OUTPUT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Google Shape;309;p15"/>
          <p:cNvSpPr/>
          <p:nvPr/>
        </p:nvSpPr>
        <p:spPr>
          <a:xfrm>
            <a:off x="960120" y="5257800"/>
            <a:ext cx="4617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B2545"/>
                </a:solidFill>
                <a:effectLst/>
                <a:uFillTx/>
                <a:latin typeface="Calibri"/>
                <a:ea typeface="Calibri"/>
              </a:rPr>
              <a:t>Fault class + confidence + health belief  hᵢ(t)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Google Shape;310;p15"/>
          <p:cNvSpPr/>
          <p:nvPr/>
        </p:nvSpPr>
        <p:spPr>
          <a:xfrm>
            <a:off x="6263640" y="1554480"/>
            <a:ext cx="5257440" cy="4663080"/>
          </a:xfrm>
          <a:prstGeom prst="rect">
            <a:avLst/>
          </a:prstGeom>
          <a:solidFill>
            <a:srgbClr val="0B254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Google Shape;311;p15"/>
          <p:cNvSpPr/>
          <p:nvPr/>
        </p:nvSpPr>
        <p:spPr>
          <a:xfrm>
            <a:off x="6537960" y="1828800"/>
            <a:ext cx="548280" cy="54828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47" name="Google Shape;312;p15" descr="icons/sync_FFFFFF.png"/>
          <p:cNvPicPr/>
          <p:nvPr/>
        </p:nvPicPr>
        <p:blipFill>
          <a:blip r:embed="rId2"/>
          <a:stretch/>
        </p:blipFill>
        <p:spPr>
          <a:xfrm>
            <a:off x="6669720" y="1960560"/>
            <a:ext cx="284760" cy="28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8" name="Google Shape;313;p15"/>
          <p:cNvSpPr/>
          <p:nvPr/>
        </p:nvSpPr>
        <p:spPr>
          <a:xfrm>
            <a:off x="7223760" y="1874520"/>
            <a:ext cx="4068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2.  Fault-Aware MAPPO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Google Shape;314;p15"/>
          <p:cNvSpPr/>
          <p:nvPr/>
        </p:nvSpPr>
        <p:spPr>
          <a:xfrm>
            <a:off x="7223760" y="2304360"/>
            <a:ext cx="4068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7FC7C2"/>
                </a:solidFill>
                <a:effectLst/>
                <a:uFillTx/>
                <a:latin typeface="Calibri"/>
                <a:ea typeface="Calibri"/>
              </a:rPr>
              <a:t>Policy: FA-MAPPO (multi-agent PPO)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Google Shape;315;p15"/>
          <p:cNvSpPr/>
          <p:nvPr/>
        </p:nvSpPr>
        <p:spPr>
          <a:xfrm>
            <a:off x="6583680" y="283464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9FB8D1"/>
                </a:solidFill>
                <a:effectLst/>
                <a:uFillTx/>
                <a:latin typeface="Calibri"/>
                <a:ea typeface="Calibri"/>
              </a:rPr>
              <a:t>OBSERVATION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Google Shape;316;p15"/>
          <p:cNvSpPr/>
          <p:nvPr/>
        </p:nvSpPr>
        <p:spPr>
          <a:xfrm>
            <a:off x="6583680" y="3127320"/>
            <a:ext cx="4617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Position, velocity, neighbors, target belief, battery and health belief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Google Shape;317;p15"/>
          <p:cNvSpPr/>
          <p:nvPr/>
        </p:nvSpPr>
        <p:spPr>
          <a:xfrm>
            <a:off x="6583680" y="379476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9FB8D1"/>
                </a:solidFill>
                <a:effectLst/>
                <a:uFillTx/>
                <a:latin typeface="Calibri"/>
                <a:ea typeface="Calibri"/>
              </a:rPr>
              <a:t>ACTION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Google Shape;318;p15"/>
          <p:cNvSpPr/>
          <p:nvPr/>
        </p:nvSpPr>
        <p:spPr>
          <a:xfrm>
            <a:off x="6583680" y="4087440"/>
            <a:ext cx="4617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Select role, waypoint, speed and assistance / relay request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54" name="Google Shape;319;p15"/>
          <p:cNvCxnSpPr/>
          <p:nvPr/>
        </p:nvCxnSpPr>
        <p:spPr>
          <a:xfrm>
            <a:off x="6583680" y="4846320"/>
            <a:ext cx="4618080" cy="360"/>
          </a:xfrm>
          <a:prstGeom prst="straightConnector1">
            <a:avLst/>
          </a:prstGeom>
          <a:ln w="12700">
            <a:solidFill>
              <a:srgbClr val="2B4A70"/>
            </a:solidFill>
            <a:round/>
          </a:ln>
        </p:spPr>
      </p:cxnSp>
      <p:sp>
        <p:nvSpPr>
          <p:cNvPr id="255" name="Google Shape;320;p15"/>
          <p:cNvSpPr/>
          <p:nvPr/>
        </p:nvSpPr>
        <p:spPr>
          <a:xfrm>
            <a:off x="6583680" y="495612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9FB8D1"/>
                </a:solidFill>
                <a:effectLst/>
                <a:uFillTx/>
                <a:latin typeface="Calibri"/>
                <a:ea typeface="Calibri"/>
              </a:rPr>
              <a:t>REWARD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Google Shape;321;p15"/>
          <p:cNvSpPr/>
          <p:nvPr/>
        </p:nvSpPr>
        <p:spPr>
          <a:xfrm>
            <a:off x="6583680" y="5257800"/>
            <a:ext cx="4617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Search + tracking + containment + recovery − collision − energy − communication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Google Shape;322;p15"/>
          <p:cNvSpPr/>
          <p:nvPr/>
        </p:nvSpPr>
        <p:spPr>
          <a:xfrm>
            <a:off x="11274480" y="6355080"/>
            <a:ext cx="639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C7A99"/>
                </a:solidFill>
                <a:effectLst/>
                <a:uFillTx/>
                <a:latin typeface="Calibri"/>
                <a:ea typeface="Calibri"/>
              </a:rPr>
              <a:t>13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328;p16"/>
          <p:cNvPicPr/>
          <p:nvPr/>
        </p:nvPicPr>
        <p:blipFill>
          <a:blip r:embed="rId1"/>
          <a:stretch/>
        </p:blipFill>
        <p:spPr>
          <a:xfrm>
            <a:off x="0" y="0"/>
            <a:ext cx="12191760" cy="6924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9" name="Google Shape;329;p16"/>
          <p:cNvSpPr/>
          <p:nvPr/>
        </p:nvSpPr>
        <p:spPr>
          <a:xfrm>
            <a:off x="11274480" y="6355080"/>
            <a:ext cx="639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C7A99"/>
                </a:solidFill>
                <a:effectLst/>
                <a:uFillTx/>
                <a:latin typeface="Calibri"/>
                <a:ea typeface="Calibri"/>
              </a:rPr>
              <a:t>14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Google Shape;335;p17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1" name="Google Shape;336;p17"/>
          <p:cNvSpPr/>
          <p:nvPr/>
        </p:nvSpPr>
        <p:spPr>
          <a:xfrm>
            <a:off x="11274480" y="6355080"/>
            <a:ext cx="639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C7A99"/>
                </a:solidFill>
                <a:effectLst/>
                <a:uFillTx/>
                <a:latin typeface="Calibri"/>
                <a:ea typeface="Calibri"/>
              </a:rPr>
              <a:t>15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342;p18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3" name="Google Shape;343;p18"/>
          <p:cNvSpPr/>
          <p:nvPr/>
        </p:nvSpPr>
        <p:spPr>
          <a:xfrm>
            <a:off x="11274480" y="6355080"/>
            <a:ext cx="639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C7A99"/>
                </a:solidFill>
                <a:effectLst/>
                <a:uFillTx/>
                <a:latin typeface="Calibri"/>
                <a:ea typeface="Calibri"/>
              </a:rPr>
              <a:t>16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349;p19"/>
          <p:cNvSpPr/>
          <p:nvPr/>
        </p:nvSpPr>
        <p:spPr>
          <a:xfrm>
            <a:off x="640080" y="457200"/>
            <a:ext cx="4571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06  ·  NOVELTY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Google Shape;350;p19"/>
          <p:cNvSpPr/>
          <p:nvPr/>
        </p:nvSpPr>
        <p:spPr>
          <a:xfrm>
            <a:off x="594360" y="731520"/>
            <a:ext cx="10881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0B2545"/>
                </a:solidFill>
                <a:effectLst/>
                <a:uFillTx/>
                <a:latin typeface="Cambria"/>
                <a:ea typeface="Cambria"/>
              </a:rPr>
              <a:t>Novelty comes from the recovery loop — not detection alone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Google Shape;351;p19"/>
          <p:cNvSpPr/>
          <p:nvPr/>
        </p:nvSpPr>
        <p:spPr>
          <a:xfrm>
            <a:off x="640080" y="1371600"/>
            <a:ext cx="9875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Proposed contribution: a marine swarm that reasons about its own health while completing a cooperative mission.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Google Shape;352;p19"/>
          <p:cNvSpPr/>
          <p:nvPr/>
        </p:nvSpPr>
        <p:spPr>
          <a:xfrm>
            <a:off x="640080" y="2057400"/>
            <a:ext cx="5257440" cy="1965600"/>
          </a:xfrm>
          <a:prstGeom prst="rect">
            <a:avLst/>
          </a:prstGeom>
          <a:solidFill>
            <a:srgbClr val="F5F8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Google Shape;353;p19"/>
          <p:cNvSpPr/>
          <p:nvPr/>
        </p:nvSpPr>
        <p:spPr>
          <a:xfrm>
            <a:off x="914400" y="2331720"/>
            <a:ext cx="639720" cy="639720"/>
          </a:xfrm>
          <a:prstGeom prst="ellipse">
            <a:avLst/>
          </a:prstGeom>
          <a:solidFill>
            <a:srgbClr val="FF6B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69" name="Google Shape;354;p19" descr="icons/brain_FFFFFF.png"/>
          <p:cNvPicPr/>
          <p:nvPr/>
        </p:nvPicPr>
        <p:blipFill>
          <a:blip r:embed="rId1"/>
          <a:stretch/>
        </p:blipFill>
        <p:spPr>
          <a:xfrm>
            <a:off x="1068120" y="2485440"/>
            <a:ext cx="332640" cy="332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0" name="Google Shape;355;p19"/>
          <p:cNvSpPr/>
          <p:nvPr/>
        </p:nvSpPr>
        <p:spPr>
          <a:xfrm>
            <a:off x="5212080" y="2194560"/>
            <a:ext cx="548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DCE6ED"/>
                </a:solidFill>
                <a:effectLst/>
                <a:uFillTx/>
                <a:latin typeface="Cambria"/>
                <a:ea typeface="Cambria"/>
              </a:rPr>
              <a:t>01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Google Shape;356;p19"/>
          <p:cNvSpPr/>
          <p:nvPr/>
        </p:nvSpPr>
        <p:spPr>
          <a:xfrm>
            <a:off x="1737360" y="2313360"/>
            <a:ext cx="3885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17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B2545"/>
                </a:solidFill>
                <a:effectLst/>
                <a:uFillTx/>
                <a:latin typeface="Calibri"/>
                <a:ea typeface="Calibri"/>
              </a:rPr>
              <a:t>Health-Aware Observations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Google Shape;357;p19"/>
          <p:cNvSpPr/>
          <p:nvPr/>
        </p:nvSpPr>
        <p:spPr>
          <a:xfrm>
            <a:off x="914400" y="3108960"/>
            <a:ext cx="47088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4586E"/>
                </a:solidFill>
                <a:effectLst/>
                <a:uFillTx/>
                <a:latin typeface="Calibri"/>
                <a:ea typeface="Calibri"/>
              </a:rPr>
              <a:t>The policy consumes diagnosis confidence rather than a binary failure flag — richer signal, better decisions.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Google Shape;358;p19"/>
          <p:cNvSpPr/>
          <p:nvPr/>
        </p:nvSpPr>
        <p:spPr>
          <a:xfrm>
            <a:off x="6263640" y="2057400"/>
            <a:ext cx="5257440" cy="1965600"/>
          </a:xfrm>
          <a:prstGeom prst="rect">
            <a:avLst/>
          </a:prstGeom>
          <a:solidFill>
            <a:srgbClr val="F5F8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Google Shape;359;p19"/>
          <p:cNvSpPr/>
          <p:nvPr/>
        </p:nvSpPr>
        <p:spPr>
          <a:xfrm>
            <a:off x="6537960" y="2331720"/>
            <a:ext cx="639720" cy="63972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75" name="Google Shape;360;p19" descr="icons/route_FFFFFF.png"/>
          <p:cNvPicPr/>
          <p:nvPr/>
        </p:nvPicPr>
        <p:blipFill>
          <a:blip r:embed="rId2"/>
          <a:stretch/>
        </p:blipFill>
        <p:spPr>
          <a:xfrm>
            <a:off x="6691680" y="2485440"/>
            <a:ext cx="332640" cy="332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6" name="Google Shape;361;p19"/>
          <p:cNvSpPr/>
          <p:nvPr/>
        </p:nvSpPr>
        <p:spPr>
          <a:xfrm>
            <a:off x="10835640" y="2194560"/>
            <a:ext cx="548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DCE6ED"/>
                </a:solidFill>
                <a:effectLst/>
                <a:uFillTx/>
                <a:latin typeface="Cambria"/>
                <a:ea typeface="Cambria"/>
              </a:rPr>
              <a:t>02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Google Shape;362;p19"/>
          <p:cNvSpPr/>
          <p:nvPr/>
        </p:nvSpPr>
        <p:spPr>
          <a:xfrm>
            <a:off x="7360920" y="2313360"/>
            <a:ext cx="3885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17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B2545"/>
                </a:solidFill>
                <a:effectLst/>
                <a:uFillTx/>
                <a:latin typeface="Calibri"/>
                <a:ea typeface="Calibri"/>
              </a:rPr>
              <a:t>Fault-Specific Recovery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Google Shape;363;p19"/>
          <p:cNvSpPr/>
          <p:nvPr/>
        </p:nvSpPr>
        <p:spPr>
          <a:xfrm>
            <a:off x="6537960" y="3108960"/>
            <a:ext cx="47088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4586E"/>
                </a:solidFill>
                <a:effectLst/>
                <a:uFillTx/>
                <a:latin typeface="Calibri"/>
                <a:ea typeface="Calibri"/>
              </a:rPr>
              <a:t>GPS, perception, propulsion and link failures each trigger a different, tailored recovery option.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Google Shape;364;p19"/>
          <p:cNvSpPr/>
          <p:nvPr/>
        </p:nvSpPr>
        <p:spPr>
          <a:xfrm>
            <a:off x="640080" y="4343400"/>
            <a:ext cx="5257440" cy="1965600"/>
          </a:xfrm>
          <a:prstGeom prst="rect">
            <a:avLst/>
          </a:prstGeom>
          <a:solidFill>
            <a:srgbClr val="F5F8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Google Shape;365;p19"/>
          <p:cNvSpPr/>
          <p:nvPr/>
        </p:nvSpPr>
        <p:spPr>
          <a:xfrm>
            <a:off x="914400" y="4617720"/>
            <a:ext cx="639720" cy="639720"/>
          </a:xfrm>
          <a:prstGeom prst="ellipse">
            <a:avLst/>
          </a:prstGeom>
          <a:solidFill>
            <a:srgbClr val="FF6B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81" name="Google Shape;366;p19" descr="icons/sync_FFFFFF.png"/>
          <p:cNvPicPr/>
          <p:nvPr/>
        </p:nvPicPr>
        <p:blipFill>
          <a:blip r:embed="rId3"/>
          <a:stretch/>
        </p:blipFill>
        <p:spPr>
          <a:xfrm>
            <a:off x="1068120" y="4771440"/>
            <a:ext cx="332640" cy="332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2" name="Google Shape;367;p19"/>
          <p:cNvSpPr/>
          <p:nvPr/>
        </p:nvSpPr>
        <p:spPr>
          <a:xfrm>
            <a:off x="5212080" y="4480560"/>
            <a:ext cx="548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DCE6ED"/>
                </a:solidFill>
                <a:effectLst/>
                <a:uFillTx/>
                <a:latin typeface="Cambria"/>
                <a:ea typeface="Cambria"/>
              </a:rPr>
              <a:t>03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Google Shape;368;p19"/>
          <p:cNvSpPr/>
          <p:nvPr/>
        </p:nvSpPr>
        <p:spPr>
          <a:xfrm>
            <a:off x="1737360" y="4599360"/>
            <a:ext cx="3885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17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B2545"/>
                </a:solidFill>
                <a:effectLst/>
                <a:uFillTx/>
                <a:latin typeface="Calibri"/>
                <a:ea typeface="Calibri"/>
              </a:rPr>
              <a:t>Dynamic Role Reassignment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Google Shape;369;p19"/>
          <p:cNvSpPr/>
          <p:nvPr/>
        </p:nvSpPr>
        <p:spPr>
          <a:xfrm>
            <a:off x="914400" y="5394960"/>
            <a:ext cx="47088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4586E"/>
                </a:solidFill>
                <a:effectLst/>
                <a:uFillTx/>
                <a:latin typeface="Calibri"/>
                <a:ea typeface="Calibri"/>
              </a:rPr>
              <a:t>Scout, tracker, interceptor and relay roles change automatically as the swarm degrades.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Google Shape;370;p19"/>
          <p:cNvSpPr/>
          <p:nvPr/>
        </p:nvSpPr>
        <p:spPr>
          <a:xfrm>
            <a:off x="6263640" y="4343400"/>
            <a:ext cx="5257440" cy="1965600"/>
          </a:xfrm>
          <a:prstGeom prst="rect">
            <a:avLst/>
          </a:prstGeom>
          <a:solidFill>
            <a:srgbClr val="F5F8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Google Shape;371;p19"/>
          <p:cNvSpPr/>
          <p:nvPr/>
        </p:nvSpPr>
        <p:spPr>
          <a:xfrm>
            <a:off x="6537960" y="4617720"/>
            <a:ext cx="639720" cy="63972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87" name="Google Shape;372;p19" descr="icons/check_FFFFFF.png"/>
          <p:cNvPicPr/>
          <p:nvPr/>
        </p:nvPicPr>
        <p:blipFill>
          <a:blip r:embed="rId4"/>
          <a:stretch/>
        </p:blipFill>
        <p:spPr>
          <a:xfrm>
            <a:off x="6691680" y="4771440"/>
            <a:ext cx="332640" cy="332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8" name="Google Shape;373;p19"/>
          <p:cNvSpPr/>
          <p:nvPr/>
        </p:nvSpPr>
        <p:spPr>
          <a:xfrm>
            <a:off x="10835640" y="4480560"/>
            <a:ext cx="548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DCE6ED"/>
                </a:solidFill>
                <a:effectLst/>
                <a:uFillTx/>
                <a:latin typeface="Cambria"/>
                <a:ea typeface="Cambria"/>
              </a:rPr>
              <a:t>04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Google Shape;374;p19"/>
          <p:cNvSpPr/>
          <p:nvPr/>
        </p:nvSpPr>
        <p:spPr>
          <a:xfrm>
            <a:off x="7360920" y="4599360"/>
            <a:ext cx="3885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17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B2545"/>
                </a:solidFill>
                <a:effectLst/>
                <a:uFillTx/>
                <a:latin typeface="Calibri"/>
                <a:ea typeface="Calibri"/>
              </a:rPr>
              <a:t>Post-Action Verification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Google Shape;375;p19"/>
          <p:cNvSpPr/>
          <p:nvPr/>
        </p:nvSpPr>
        <p:spPr>
          <a:xfrm>
            <a:off x="6537960" y="5394960"/>
            <a:ext cx="47088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4586E"/>
                </a:solidFill>
                <a:effectLst/>
                <a:uFillTx/>
                <a:latin typeface="Calibri"/>
                <a:ea typeface="Calibri"/>
              </a:rPr>
              <a:t>The system measures whether recovery worked and replans when the first action fails.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Google Shape;376;p19"/>
          <p:cNvSpPr/>
          <p:nvPr/>
        </p:nvSpPr>
        <p:spPr>
          <a:xfrm>
            <a:off x="11274480" y="6355080"/>
            <a:ext cx="639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C7A99"/>
                </a:solidFill>
                <a:effectLst/>
                <a:uFillTx/>
                <a:latin typeface="Calibri"/>
                <a:ea typeface="Calibri"/>
              </a:rPr>
              <a:t>17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382;p20"/>
          <p:cNvSpPr/>
          <p:nvPr/>
        </p:nvSpPr>
        <p:spPr>
          <a:xfrm>
            <a:off x="640080" y="457200"/>
            <a:ext cx="4571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07  ·  APPLICATIONS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Google Shape;383;p20"/>
          <p:cNvSpPr/>
          <p:nvPr/>
        </p:nvSpPr>
        <p:spPr>
          <a:xfrm>
            <a:off x="594360" y="731520"/>
            <a:ext cx="10881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B2545"/>
                </a:solidFill>
                <a:effectLst/>
                <a:uFillTx/>
                <a:latin typeface="Cambria"/>
                <a:ea typeface="Cambria"/>
              </a:rPr>
              <a:t>Where a self-healing marine swarm matters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Google Shape;384;p20"/>
          <p:cNvSpPr/>
          <p:nvPr/>
        </p:nvSpPr>
        <p:spPr>
          <a:xfrm>
            <a:off x="640080" y="1600200"/>
            <a:ext cx="3565800" cy="2331360"/>
          </a:xfrm>
          <a:prstGeom prst="rect">
            <a:avLst/>
          </a:prstGeom>
          <a:solidFill>
            <a:srgbClr val="F5F8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Google Shape;385;p20"/>
          <p:cNvSpPr/>
          <p:nvPr/>
        </p:nvSpPr>
        <p:spPr>
          <a:xfrm>
            <a:off x="896040" y="1856160"/>
            <a:ext cx="594000" cy="59400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96" name="Google Shape;386;p20" descr="icons/shield_FFFFFF.png"/>
          <p:cNvPicPr/>
          <p:nvPr/>
        </p:nvPicPr>
        <p:blipFill>
          <a:blip r:embed="rId1"/>
          <a:stretch/>
        </p:blipFill>
        <p:spPr>
          <a:xfrm>
            <a:off x="1038600" y="1998720"/>
            <a:ext cx="308880" cy="30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7" name="Google Shape;387;p20"/>
          <p:cNvSpPr/>
          <p:nvPr/>
        </p:nvSpPr>
        <p:spPr>
          <a:xfrm>
            <a:off x="868680" y="2560320"/>
            <a:ext cx="31086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19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B2545"/>
                </a:solidFill>
                <a:effectLst/>
                <a:uFillTx/>
                <a:latin typeface="Calibri"/>
                <a:ea typeface="Calibri"/>
              </a:rPr>
              <a:t>Coast Guard &amp; Port Security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Google Shape;388;p20"/>
          <p:cNvSpPr/>
          <p:nvPr/>
        </p:nvSpPr>
        <p:spPr>
          <a:xfrm>
            <a:off x="868680" y="3108960"/>
            <a:ext cx="31086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5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4586E"/>
                </a:solidFill>
                <a:effectLst/>
                <a:uFillTx/>
                <a:latin typeface="Calibri"/>
                <a:ea typeface="Calibri"/>
              </a:rPr>
              <a:t>Persistent perimeter patrol around harbours and coastal installations, resilient to jamming and node loss.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Google Shape;389;p20"/>
          <p:cNvSpPr/>
          <p:nvPr/>
        </p:nvSpPr>
        <p:spPr>
          <a:xfrm>
            <a:off x="4343400" y="1600200"/>
            <a:ext cx="3565800" cy="2331360"/>
          </a:xfrm>
          <a:prstGeom prst="rect">
            <a:avLst/>
          </a:prstGeom>
          <a:solidFill>
            <a:srgbClr val="F5F8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Google Shape;390;p20"/>
          <p:cNvSpPr/>
          <p:nvPr/>
        </p:nvSpPr>
        <p:spPr>
          <a:xfrm>
            <a:off x="4599360" y="1856160"/>
            <a:ext cx="594000" cy="59400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01" name="Google Shape;391;p20" descr="icons/life_FFFFFF.png"/>
          <p:cNvPicPr/>
          <p:nvPr/>
        </p:nvPicPr>
        <p:blipFill>
          <a:blip r:embed="rId2"/>
          <a:stretch/>
        </p:blipFill>
        <p:spPr>
          <a:xfrm>
            <a:off x="4741920" y="1998720"/>
            <a:ext cx="308880" cy="30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2" name="Google Shape;392;p20"/>
          <p:cNvSpPr/>
          <p:nvPr/>
        </p:nvSpPr>
        <p:spPr>
          <a:xfrm>
            <a:off x="4572000" y="2560320"/>
            <a:ext cx="31086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19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B2545"/>
                </a:solidFill>
                <a:effectLst/>
                <a:uFillTx/>
                <a:latin typeface="Calibri"/>
                <a:ea typeface="Calibri"/>
              </a:rPr>
              <a:t>Search &amp; Rescue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Google Shape;393;p20"/>
          <p:cNvSpPr/>
          <p:nvPr/>
        </p:nvSpPr>
        <p:spPr>
          <a:xfrm>
            <a:off x="4572000" y="3108960"/>
            <a:ext cx="31086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5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4586E"/>
                </a:solidFill>
                <a:effectLst/>
                <a:uFillTx/>
                <a:latin typeface="Calibri"/>
                <a:ea typeface="Calibri"/>
              </a:rPr>
              <a:t>Wide-area search that keeps covering water even as individual units lose sensors or battery.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Google Shape;394;p20"/>
          <p:cNvSpPr/>
          <p:nvPr/>
        </p:nvSpPr>
        <p:spPr>
          <a:xfrm>
            <a:off x="8046720" y="1600200"/>
            <a:ext cx="3565800" cy="2331360"/>
          </a:xfrm>
          <a:prstGeom prst="rect">
            <a:avLst/>
          </a:prstGeom>
          <a:solidFill>
            <a:srgbClr val="F5F8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Google Shape;395;p20"/>
          <p:cNvSpPr/>
          <p:nvPr/>
        </p:nvSpPr>
        <p:spPr>
          <a:xfrm>
            <a:off x="8302680" y="1856160"/>
            <a:ext cx="594000" cy="59400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06" name="Google Shape;396;p20" descr="icons/globe_FFFFFF.png"/>
          <p:cNvPicPr/>
          <p:nvPr/>
        </p:nvPicPr>
        <p:blipFill>
          <a:blip r:embed="rId3"/>
          <a:stretch/>
        </p:blipFill>
        <p:spPr>
          <a:xfrm>
            <a:off x="8445240" y="1998720"/>
            <a:ext cx="308880" cy="30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7" name="Google Shape;397;p20"/>
          <p:cNvSpPr/>
          <p:nvPr/>
        </p:nvSpPr>
        <p:spPr>
          <a:xfrm>
            <a:off x="8275320" y="2560320"/>
            <a:ext cx="31086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19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B2545"/>
                </a:solidFill>
                <a:effectLst/>
                <a:uFillTx/>
                <a:latin typeface="Calibri"/>
                <a:ea typeface="Calibri"/>
              </a:rPr>
              <a:t>Environmental Monitoring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Google Shape;398;p20"/>
          <p:cNvSpPr/>
          <p:nvPr/>
        </p:nvSpPr>
        <p:spPr>
          <a:xfrm>
            <a:off x="8275320" y="3108960"/>
            <a:ext cx="31086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5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4586E"/>
                </a:solidFill>
                <a:effectLst/>
                <a:uFillTx/>
                <a:latin typeface="Calibri"/>
                <a:ea typeface="Calibri"/>
              </a:rPr>
              <a:t>Long-duration ocean and pollution monitoring swarms that self-repair instead of aborting missions.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Google Shape;399;p20"/>
          <p:cNvSpPr/>
          <p:nvPr/>
        </p:nvSpPr>
        <p:spPr>
          <a:xfrm>
            <a:off x="640080" y="4206240"/>
            <a:ext cx="3565800" cy="2331360"/>
          </a:xfrm>
          <a:prstGeom prst="rect">
            <a:avLst/>
          </a:prstGeom>
          <a:solidFill>
            <a:srgbClr val="F5F8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Google Shape;400;p20"/>
          <p:cNvSpPr/>
          <p:nvPr/>
        </p:nvSpPr>
        <p:spPr>
          <a:xfrm>
            <a:off x="896040" y="4462200"/>
            <a:ext cx="594000" cy="59400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11" name="Google Shape;401;p20" descr="icons/anchor_FFFFFF.png"/>
          <p:cNvPicPr/>
          <p:nvPr/>
        </p:nvPicPr>
        <p:blipFill>
          <a:blip r:embed="rId4"/>
          <a:stretch/>
        </p:blipFill>
        <p:spPr>
          <a:xfrm>
            <a:off x="1038600" y="4604760"/>
            <a:ext cx="308880" cy="30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2" name="Google Shape;402;p20"/>
          <p:cNvSpPr/>
          <p:nvPr/>
        </p:nvSpPr>
        <p:spPr>
          <a:xfrm>
            <a:off x="868680" y="5166360"/>
            <a:ext cx="31086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19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B2545"/>
                </a:solidFill>
                <a:effectLst/>
                <a:uFillTx/>
                <a:latin typeface="Calibri"/>
                <a:ea typeface="Calibri"/>
              </a:rPr>
              <a:t>Offshore Infrastructure Inspection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Google Shape;403;p20"/>
          <p:cNvSpPr/>
          <p:nvPr/>
        </p:nvSpPr>
        <p:spPr>
          <a:xfrm>
            <a:off x="868680" y="5715000"/>
            <a:ext cx="31086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5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4586E"/>
                </a:solidFill>
                <a:effectLst/>
                <a:uFillTx/>
                <a:latin typeface="Calibri"/>
                <a:ea typeface="Calibri"/>
              </a:rPr>
              <a:t>Continuous inspection rings around rigs, wind farms and pipelines despite harsh sea conditions.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Google Shape;404;p20"/>
          <p:cNvSpPr/>
          <p:nvPr/>
        </p:nvSpPr>
        <p:spPr>
          <a:xfrm>
            <a:off x="4343400" y="4206240"/>
            <a:ext cx="3565800" cy="2331360"/>
          </a:xfrm>
          <a:prstGeom prst="rect">
            <a:avLst/>
          </a:prstGeom>
          <a:solidFill>
            <a:srgbClr val="F5F8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Google Shape;405;p20"/>
          <p:cNvSpPr/>
          <p:nvPr/>
        </p:nvSpPr>
        <p:spPr>
          <a:xfrm>
            <a:off x="4599360" y="4462200"/>
            <a:ext cx="594000" cy="59400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16" name="Google Shape;406;p20" descr="icons/building_FFFFFF.png"/>
          <p:cNvPicPr/>
          <p:nvPr/>
        </p:nvPicPr>
        <p:blipFill>
          <a:blip r:embed="rId5"/>
          <a:stretch/>
        </p:blipFill>
        <p:spPr>
          <a:xfrm>
            <a:off x="4741920" y="4604760"/>
            <a:ext cx="308880" cy="30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7" name="Google Shape;407;p20"/>
          <p:cNvSpPr/>
          <p:nvPr/>
        </p:nvSpPr>
        <p:spPr>
          <a:xfrm>
            <a:off x="4572000" y="5166360"/>
            <a:ext cx="31086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19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B2545"/>
                </a:solidFill>
                <a:effectLst/>
                <a:uFillTx/>
                <a:latin typeface="Calibri"/>
                <a:ea typeface="Calibri"/>
              </a:rPr>
              <a:t>Border &amp; Maritime Security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Google Shape;408;p20"/>
          <p:cNvSpPr/>
          <p:nvPr/>
        </p:nvSpPr>
        <p:spPr>
          <a:xfrm>
            <a:off x="4572000" y="5715000"/>
            <a:ext cx="31086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5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4586E"/>
                </a:solidFill>
                <a:effectLst/>
                <a:uFillTx/>
                <a:latin typeface="Calibri"/>
                <a:ea typeface="Calibri"/>
              </a:rPr>
              <a:t>Non-destructive interception and shadowing of non-cooperative vessels near sensitive waters.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Google Shape;409;p20"/>
          <p:cNvSpPr/>
          <p:nvPr/>
        </p:nvSpPr>
        <p:spPr>
          <a:xfrm>
            <a:off x="8046720" y="4206240"/>
            <a:ext cx="3565800" cy="2331360"/>
          </a:xfrm>
          <a:prstGeom prst="rect">
            <a:avLst/>
          </a:prstGeom>
          <a:solidFill>
            <a:srgbClr val="F5F8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Google Shape;410;p20"/>
          <p:cNvSpPr/>
          <p:nvPr/>
        </p:nvSpPr>
        <p:spPr>
          <a:xfrm>
            <a:off x="8302680" y="4462200"/>
            <a:ext cx="594000" cy="59400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21" name="Google Shape;411;p20" descr="icons/wifi_FFFFFF.png"/>
          <p:cNvPicPr/>
          <p:nvPr/>
        </p:nvPicPr>
        <p:blipFill>
          <a:blip r:embed="rId6"/>
          <a:stretch/>
        </p:blipFill>
        <p:spPr>
          <a:xfrm>
            <a:off x="8445240" y="4604760"/>
            <a:ext cx="308880" cy="30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2" name="Google Shape;412;p20"/>
          <p:cNvSpPr/>
          <p:nvPr/>
        </p:nvSpPr>
        <p:spPr>
          <a:xfrm>
            <a:off x="8275320" y="5166360"/>
            <a:ext cx="31086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19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B2545"/>
                </a:solidFill>
                <a:effectLst/>
                <a:uFillTx/>
                <a:latin typeface="Calibri"/>
                <a:ea typeface="Calibri"/>
              </a:rPr>
              <a:t>Disaster Response Relay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Google Shape;413;p20"/>
          <p:cNvSpPr/>
          <p:nvPr/>
        </p:nvSpPr>
        <p:spPr>
          <a:xfrm>
            <a:off x="8275320" y="5715000"/>
            <a:ext cx="31086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5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4586E"/>
                </a:solidFill>
                <a:effectLst/>
                <a:uFillTx/>
                <a:latin typeface="Calibri"/>
                <a:ea typeface="Calibri"/>
              </a:rPr>
              <a:t>Ad-hoc communication relay swarms that reform their mesh after storm-damaged infrastructure.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Google Shape;414;p20"/>
          <p:cNvSpPr/>
          <p:nvPr/>
        </p:nvSpPr>
        <p:spPr>
          <a:xfrm>
            <a:off x="11274480" y="6355080"/>
            <a:ext cx="639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C7A99"/>
                </a:solidFill>
                <a:effectLst/>
                <a:uFillTx/>
                <a:latin typeface="Calibri"/>
                <a:ea typeface="Calibri"/>
              </a:rPr>
              <a:t>18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420;p21"/>
          <p:cNvSpPr/>
          <p:nvPr/>
        </p:nvSpPr>
        <p:spPr>
          <a:xfrm>
            <a:off x="640080" y="457200"/>
            <a:ext cx="4571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7FC7C2"/>
                </a:solidFill>
                <a:effectLst/>
                <a:uFillTx/>
                <a:latin typeface="Calibri"/>
                <a:ea typeface="Calibri"/>
              </a:rPr>
              <a:t>08  ·  PROPOSED DESIGN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6" name="Google Shape;421;p21"/>
          <p:cNvSpPr/>
          <p:nvPr/>
        </p:nvSpPr>
        <p:spPr>
          <a:xfrm>
            <a:off x="594360" y="731520"/>
            <a:ext cx="64004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22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A two-stage simulator keeps the project feasible and credible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7" name="Google Shape;422;p21"/>
          <p:cNvSpPr/>
          <p:nvPr/>
        </p:nvSpPr>
        <p:spPr>
          <a:xfrm>
            <a:off x="640080" y="1965960"/>
            <a:ext cx="5623200" cy="1737000"/>
          </a:xfrm>
          <a:prstGeom prst="rect">
            <a:avLst/>
          </a:prstGeom>
          <a:solidFill>
            <a:srgbClr val="1331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8" name="Google Shape;423;p21"/>
          <p:cNvSpPr/>
          <p:nvPr/>
        </p:nvSpPr>
        <p:spPr>
          <a:xfrm>
            <a:off x="914400" y="2103120"/>
            <a:ext cx="5120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6B35"/>
                </a:solidFill>
                <a:effectLst/>
                <a:uFillTx/>
                <a:latin typeface="Calibri"/>
                <a:ea typeface="Calibri"/>
              </a:rPr>
              <a:t>MINIMUM VIABLE STUDY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9" name="Google Shape;424;p21"/>
          <p:cNvSpPr/>
          <p:nvPr/>
        </p:nvSpPr>
        <p:spPr>
          <a:xfrm>
            <a:off x="914400" y="2395800"/>
            <a:ext cx="5120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Python + PettingZoo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0" name="Google Shape;425;p21"/>
          <p:cNvSpPr/>
          <p:nvPr/>
        </p:nvSpPr>
        <p:spPr>
          <a:xfrm>
            <a:off x="914400" y="2788920"/>
            <a:ext cx="51202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3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2D vessel dynamics, moving target, noisy sensing, link graph and injected robot / sensor faults.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1" name="Google Shape;426;p21"/>
          <p:cNvSpPr/>
          <p:nvPr/>
        </p:nvSpPr>
        <p:spPr>
          <a:xfrm>
            <a:off x="640080" y="3886200"/>
            <a:ext cx="5623200" cy="1737000"/>
          </a:xfrm>
          <a:prstGeom prst="rect">
            <a:avLst/>
          </a:prstGeom>
          <a:solidFill>
            <a:srgbClr val="1331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2" name="Google Shape;427;p21"/>
          <p:cNvSpPr/>
          <p:nvPr/>
        </p:nvSpPr>
        <p:spPr>
          <a:xfrm>
            <a:off x="914400" y="4023360"/>
            <a:ext cx="5120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5FA8A0"/>
                </a:solidFill>
                <a:effectLst/>
                <a:uFillTx/>
                <a:latin typeface="Calibri"/>
                <a:ea typeface="Calibri"/>
              </a:rPr>
              <a:t>STRETCH VALIDATION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3" name="Google Shape;428;p21"/>
          <p:cNvSpPr/>
          <p:nvPr/>
        </p:nvSpPr>
        <p:spPr>
          <a:xfrm>
            <a:off x="914400" y="4316040"/>
            <a:ext cx="5120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ROS 2 + Gazebo VRX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4" name="Google Shape;429;p21"/>
          <p:cNvSpPr/>
          <p:nvPr/>
        </p:nvSpPr>
        <p:spPr>
          <a:xfrm>
            <a:off x="914400" y="4709160"/>
            <a:ext cx="51202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3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Repeat a small subset with WAM-V dynamics, simulated marine sensors and environmental disturbances.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5" name="Google Shape;430;p21"/>
          <p:cNvSpPr/>
          <p:nvPr/>
        </p:nvSpPr>
        <p:spPr>
          <a:xfrm>
            <a:off x="640080" y="5806440"/>
            <a:ext cx="137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7FC7C2"/>
                </a:solidFill>
                <a:effectLst/>
                <a:uFillTx/>
                <a:latin typeface="Calibri"/>
                <a:ea typeface="Calibri"/>
              </a:rPr>
              <a:t>SWARM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6" name="Google Shape;431;p21"/>
          <p:cNvSpPr/>
          <p:nvPr/>
        </p:nvSpPr>
        <p:spPr>
          <a:xfrm>
            <a:off x="640080" y="605340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 / 6 / 8 / 10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7" name="Google Shape;432;p21"/>
          <p:cNvSpPr/>
          <p:nvPr/>
        </p:nvSpPr>
        <p:spPr>
          <a:xfrm>
            <a:off x="2066400" y="5806440"/>
            <a:ext cx="137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7FC7C2"/>
                </a:solidFill>
                <a:effectLst/>
                <a:uFillTx/>
                <a:latin typeface="Calibri"/>
                <a:ea typeface="Calibri"/>
              </a:rPr>
              <a:t>FAILURES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8" name="Google Shape;433;p21"/>
          <p:cNvSpPr/>
          <p:nvPr/>
        </p:nvSpPr>
        <p:spPr>
          <a:xfrm>
            <a:off x="2066400" y="605340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0–30% nodes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9" name="Google Shape;434;p21"/>
          <p:cNvSpPr/>
          <p:nvPr/>
        </p:nvSpPr>
        <p:spPr>
          <a:xfrm>
            <a:off x="3493080" y="5806440"/>
            <a:ext cx="137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7FC7C2"/>
                </a:solidFill>
                <a:effectLst/>
                <a:uFillTx/>
                <a:latin typeface="Calibri"/>
                <a:ea typeface="Calibri"/>
              </a:rPr>
              <a:t>LINK LOSS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0" name="Google Shape;435;p21"/>
          <p:cNvSpPr/>
          <p:nvPr/>
        </p:nvSpPr>
        <p:spPr>
          <a:xfrm>
            <a:off x="3493080" y="605340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 / 20 / 40%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1" name="Google Shape;436;p21"/>
          <p:cNvSpPr/>
          <p:nvPr/>
        </p:nvSpPr>
        <p:spPr>
          <a:xfrm>
            <a:off x="4919400" y="5806440"/>
            <a:ext cx="137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7FC7C2"/>
                </a:solidFill>
                <a:effectLst/>
                <a:uFillTx/>
                <a:latin typeface="Calibri"/>
                <a:ea typeface="Calibri"/>
              </a:rPr>
              <a:t>TARGET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2" name="Google Shape;437;p21"/>
          <p:cNvSpPr/>
          <p:nvPr/>
        </p:nvSpPr>
        <p:spPr>
          <a:xfrm>
            <a:off x="4919400" y="605340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slow / fast / evasive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43" name="Google Shape;438;p21" descr="assets/vrx_sim.png"/>
          <p:cNvPicPr/>
          <p:nvPr/>
        </p:nvPicPr>
        <p:blipFill>
          <a:blip r:embed="rId1"/>
          <a:stretch/>
        </p:blipFill>
        <p:spPr>
          <a:xfrm>
            <a:off x="6629400" y="1965960"/>
            <a:ext cx="4937400" cy="4205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4" name="Google Shape;439;p21"/>
          <p:cNvSpPr/>
          <p:nvPr/>
        </p:nvSpPr>
        <p:spPr>
          <a:xfrm>
            <a:off x="6629400" y="1965960"/>
            <a:ext cx="4937400" cy="4205880"/>
          </a:xfrm>
          <a:prstGeom prst="rect">
            <a:avLst/>
          </a:prstGeom>
          <a:noFill/>
          <a:ln w="1905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5" name="Google Shape;440;p21"/>
          <p:cNvSpPr/>
          <p:nvPr/>
        </p:nvSpPr>
        <p:spPr>
          <a:xfrm>
            <a:off x="6629400" y="6236280"/>
            <a:ext cx="4937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50" b="0" i="1" u="none" strike="noStrike">
                <a:solidFill>
                  <a:srgbClr val="8FA9C4"/>
                </a:solidFill>
                <a:effectLst/>
                <a:uFillTx/>
                <a:latin typeface="Calibri"/>
                <a:ea typeface="Calibri"/>
              </a:rPr>
              <a:t>OSRF VRX simulation environment — WAM-V USV model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6" name="Google Shape;441;p21"/>
          <p:cNvSpPr/>
          <p:nvPr/>
        </p:nvSpPr>
        <p:spPr>
          <a:xfrm>
            <a:off x="11274480" y="6355080"/>
            <a:ext cx="639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E93B5"/>
                </a:solidFill>
                <a:effectLst/>
                <a:uFillTx/>
                <a:latin typeface="Calibri"/>
                <a:ea typeface="Calibri"/>
              </a:rPr>
              <a:t>19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446;p22"/>
          <p:cNvSpPr/>
          <p:nvPr/>
        </p:nvSpPr>
        <p:spPr>
          <a:xfrm>
            <a:off x="640080" y="457200"/>
            <a:ext cx="4571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09  ·  FEASIBILITY &amp; RISK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Google Shape;447;p22"/>
          <p:cNvSpPr/>
          <p:nvPr/>
        </p:nvSpPr>
        <p:spPr>
          <a:xfrm>
            <a:off x="594360" y="731520"/>
            <a:ext cx="10881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0B2545"/>
                </a:solidFill>
                <a:effectLst/>
                <a:uFillTx/>
                <a:latin typeface="Cambria"/>
                <a:ea typeface="Cambria"/>
              </a:rPr>
              <a:t>Design Feasibility and Associated Risks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Google Shape;448;p22"/>
          <p:cNvSpPr/>
          <p:nvPr/>
        </p:nvSpPr>
        <p:spPr>
          <a:xfrm>
            <a:off x="640080" y="1371600"/>
            <a:ext cx="9875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Resourcing, risk mitigation, ethical safeguards and role allocation, fixed ahead of Review 2.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Google Shape;449;p22"/>
          <p:cNvSpPr/>
          <p:nvPr/>
        </p:nvSpPr>
        <p:spPr>
          <a:xfrm>
            <a:off x="640080" y="2057400"/>
            <a:ext cx="5257440" cy="1965600"/>
          </a:xfrm>
          <a:prstGeom prst="rect">
            <a:avLst/>
          </a:prstGeom>
          <a:solidFill>
            <a:srgbClr val="F5F8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Google Shape;450;p22"/>
          <p:cNvSpPr/>
          <p:nvPr/>
        </p:nvSpPr>
        <p:spPr>
          <a:xfrm>
            <a:off x="914400" y="2331720"/>
            <a:ext cx="639720" cy="639720"/>
          </a:xfrm>
          <a:prstGeom prst="ellipse">
            <a:avLst/>
          </a:prstGeom>
          <a:solidFill>
            <a:srgbClr val="FF6B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52" name="Google Shape;451;p22" descr="icons/flask_FFFFFF.png"/>
          <p:cNvPicPr/>
          <p:nvPr/>
        </p:nvPicPr>
        <p:blipFill>
          <a:blip r:embed="rId1"/>
          <a:stretch/>
        </p:blipFill>
        <p:spPr>
          <a:xfrm>
            <a:off x="1068120" y="2485440"/>
            <a:ext cx="332640" cy="332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3" name="Google Shape;452;p22"/>
          <p:cNvSpPr/>
          <p:nvPr/>
        </p:nvSpPr>
        <p:spPr>
          <a:xfrm>
            <a:off x="5212080" y="2194560"/>
            <a:ext cx="548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DCE6ED"/>
                </a:solidFill>
                <a:effectLst/>
                <a:uFillTx/>
                <a:latin typeface="Cambria"/>
                <a:ea typeface="Cambria"/>
              </a:rPr>
              <a:t>01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Google Shape;453;p22"/>
          <p:cNvSpPr/>
          <p:nvPr/>
        </p:nvSpPr>
        <p:spPr>
          <a:xfrm>
            <a:off x="1737360" y="2313360"/>
            <a:ext cx="3885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17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B2545"/>
                </a:solidFill>
                <a:effectLst/>
                <a:uFillTx/>
                <a:latin typeface="Calibri"/>
                <a:ea typeface="Calibri"/>
              </a:rPr>
              <a:t>Feasibility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Google Shape;454;p22"/>
          <p:cNvSpPr/>
          <p:nvPr/>
        </p:nvSpPr>
        <p:spPr>
          <a:xfrm>
            <a:off x="914400" y="3108960"/>
            <a:ext cx="47088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4586E"/>
                </a:solidFill>
                <a:effectLst/>
                <a:uFillTx/>
                <a:latin typeface="Calibri"/>
                <a:ea typeface="Calibri"/>
              </a:rPr>
              <a:t>Simulation-only scope, open-source tools (PettingZoo, VRX, Ollama-class compute) and a 3-person team make the plan achievable in 16 weeks.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Google Shape;455;p22"/>
          <p:cNvSpPr/>
          <p:nvPr/>
        </p:nvSpPr>
        <p:spPr>
          <a:xfrm>
            <a:off x="6263640" y="2057400"/>
            <a:ext cx="5257440" cy="1965600"/>
          </a:xfrm>
          <a:prstGeom prst="rect">
            <a:avLst/>
          </a:prstGeom>
          <a:solidFill>
            <a:srgbClr val="F5F8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Google Shape;456;p22"/>
          <p:cNvSpPr/>
          <p:nvPr/>
        </p:nvSpPr>
        <p:spPr>
          <a:xfrm>
            <a:off x="6537960" y="2331720"/>
            <a:ext cx="639720" cy="63972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58" name="Google Shape;457;p22" descr="icons/warning_FFFFFF.png"/>
          <p:cNvPicPr/>
          <p:nvPr/>
        </p:nvPicPr>
        <p:blipFill>
          <a:blip r:embed="rId2"/>
          <a:stretch/>
        </p:blipFill>
        <p:spPr>
          <a:xfrm>
            <a:off x="6691680" y="2485440"/>
            <a:ext cx="332640" cy="332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9" name="Google Shape;458;p22"/>
          <p:cNvSpPr/>
          <p:nvPr/>
        </p:nvSpPr>
        <p:spPr>
          <a:xfrm>
            <a:off x="10835640" y="2194560"/>
            <a:ext cx="548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DCE6ED"/>
                </a:solidFill>
                <a:effectLst/>
                <a:uFillTx/>
                <a:latin typeface="Cambria"/>
                <a:ea typeface="Cambria"/>
              </a:rPr>
              <a:t>02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Google Shape;459;p22"/>
          <p:cNvSpPr/>
          <p:nvPr/>
        </p:nvSpPr>
        <p:spPr>
          <a:xfrm>
            <a:off x="7360920" y="2313360"/>
            <a:ext cx="3885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17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B2545"/>
                </a:solidFill>
                <a:effectLst/>
                <a:uFillTx/>
                <a:latin typeface="Calibri"/>
                <a:ea typeface="Calibri"/>
              </a:rPr>
              <a:t>Key Risks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Google Shape;460;p22"/>
          <p:cNvSpPr/>
          <p:nvPr/>
        </p:nvSpPr>
        <p:spPr>
          <a:xfrm>
            <a:off x="6537960" y="3108960"/>
            <a:ext cx="47088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4586E"/>
                </a:solidFill>
                <a:effectLst/>
                <a:uFillTx/>
                <a:latin typeface="Calibri"/>
                <a:ea typeface="Calibri"/>
              </a:rPr>
              <a:t>Sim-to-real gap, MARL training instability, delayed convergence and scope creep — each carries a named mitigation and a schedule buffer.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Google Shape;461;p22"/>
          <p:cNvSpPr/>
          <p:nvPr/>
        </p:nvSpPr>
        <p:spPr>
          <a:xfrm>
            <a:off x="640080" y="4343400"/>
            <a:ext cx="5257440" cy="1965600"/>
          </a:xfrm>
          <a:prstGeom prst="rect">
            <a:avLst/>
          </a:prstGeom>
          <a:solidFill>
            <a:srgbClr val="F5F8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Google Shape;462;p22"/>
          <p:cNvSpPr/>
          <p:nvPr/>
        </p:nvSpPr>
        <p:spPr>
          <a:xfrm>
            <a:off x="914400" y="4617720"/>
            <a:ext cx="639720" cy="639720"/>
          </a:xfrm>
          <a:prstGeom prst="ellipse">
            <a:avLst/>
          </a:prstGeom>
          <a:solidFill>
            <a:srgbClr val="FF6B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64" name="Google Shape;463;p22" descr="icons/shield_FFFFFF.png"/>
          <p:cNvPicPr/>
          <p:nvPr/>
        </p:nvPicPr>
        <p:blipFill>
          <a:blip r:embed="rId3"/>
          <a:stretch/>
        </p:blipFill>
        <p:spPr>
          <a:xfrm>
            <a:off x="1068120" y="4771440"/>
            <a:ext cx="332640" cy="332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5" name="Google Shape;464;p22"/>
          <p:cNvSpPr/>
          <p:nvPr/>
        </p:nvSpPr>
        <p:spPr>
          <a:xfrm>
            <a:off x="5212080" y="4480560"/>
            <a:ext cx="548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DCE6ED"/>
                </a:solidFill>
                <a:effectLst/>
                <a:uFillTx/>
                <a:latin typeface="Cambria"/>
                <a:ea typeface="Cambria"/>
              </a:rPr>
              <a:t>03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Google Shape;465;p22"/>
          <p:cNvSpPr/>
          <p:nvPr/>
        </p:nvSpPr>
        <p:spPr>
          <a:xfrm>
            <a:off x="1737360" y="4599360"/>
            <a:ext cx="3885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17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B2545"/>
                </a:solidFill>
                <a:effectLst/>
                <a:uFillTx/>
                <a:latin typeface="Calibri"/>
                <a:ea typeface="Calibri"/>
              </a:rPr>
              <a:t>Ethics &amp; Safety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Google Shape;466;p22"/>
          <p:cNvSpPr/>
          <p:nvPr/>
        </p:nvSpPr>
        <p:spPr>
          <a:xfrm>
            <a:off x="914400" y="5394960"/>
            <a:ext cx="47088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4586E"/>
                </a:solidFill>
                <a:effectLst/>
                <a:uFillTx/>
                <a:latin typeface="Calibri"/>
                <a:ea typeface="Calibri"/>
              </a:rPr>
              <a:t>Non-destructive interception only, no physical weapons, a deterministic safety layer overrides every agentic action, and all data stays simulation-only.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Google Shape;467;p22"/>
          <p:cNvSpPr/>
          <p:nvPr/>
        </p:nvSpPr>
        <p:spPr>
          <a:xfrm>
            <a:off x="6263640" y="4343400"/>
            <a:ext cx="5257440" cy="1965600"/>
          </a:xfrm>
          <a:prstGeom prst="rect">
            <a:avLst/>
          </a:prstGeom>
          <a:solidFill>
            <a:srgbClr val="F5F8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Google Shape;468;p22"/>
          <p:cNvSpPr/>
          <p:nvPr/>
        </p:nvSpPr>
        <p:spPr>
          <a:xfrm>
            <a:off x="6537960" y="4617720"/>
            <a:ext cx="639720" cy="63972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70" name="Google Shape;469;p22" descr="icons/sync_FFFFFF.png"/>
          <p:cNvPicPr/>
          <p:nvPr/>
        </p:nvPicPr>
        <p:blipFill>
          <a:blip r:embed="rId4"/>
          <a:stretch/>
        </p:blipFill>
        <p:spPr>
          <a:xfrm>
            <a:off x="6691680" y="4771440"/>
            <a:ext cx="332640" cy="332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1" name="Google Shape;470;p22"/>
          <p:cNvSpPr/>
          <p:nvPr/>
        </p:nvSpPr>
        <p:spPr>
          <a:xfrm>
            <a:off x="10835640" y="4480560"/>
            <a:ext cx="548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DCE6ED"/>
                </a:solidFill>
                <a:effectLst/>
                <a:uFillTx/>
                <a:latin typeface="Cambria"/>
                <a:ea typeface="Cambria"/>
              </a:rPr>
              <a:t>04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Google Shape;471;p22"/>
          <p:cNvSpPr/>
          <p:nvPr/>
        </p:nvSpPr>
        <p:spPr>
          <a:xfrm>
            <a:off x="7360920" y="4599360"/>
            <a:ext cx="3885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17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B2545"/>
                </a:solidFill>
                <a:effectLst/>
                <a:uFillTx/>
                <a:latin typeface="Calibri"/>
                <a:ea typeface="Calibri"/>
              </a:rPr>
              <a:t>Work Planning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Google Shape;472;p22"/>
          <p:cNvSpPr/>
          <p:nvPr/>
        </p:nvSpPr>
        <p:spPr>
          <a:xfrm>
            <a:off x="6537960" y="5394960"/>
            <a:ext cx="47088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4586E"/>
                </a:solidFill>
                <a:effectLst/>
                <a:uFillTx/>
                <a:latin typeface="Calibri"/>
                <a:ea typeface="Calibri"/>
              </a:rPr>
              <a:t>Roles split three ways — simulation &amp; environment, diagnosis + policy training, and evaluation/paper — with weekly syncs and shared checkpoints.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Google Shape;473;p22"/>
          <p:cNvSpPr/>
          <p:nvPr/>
        </p:nvSpPr>
        <p:spPr>
          <a:xfrm>
            <a:off x="640080" y="6355080"/>
            <a:ext cx="10881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0" i="1" u="none" strike="noStrike">
                <a:solidFill>
                  <a:srgbClr val="5C7A99"/>
                </a:solidFill>
                <a:effectLst/>
                <a:uFillTx/>
                <a:latin typeface="Calibri"/>
                <a:ea typeface="Calibri"/>
              </a:rPr>
              <a:t>Risk status and role allocation are reviewed weekly against the 16-week timeline.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Google Shape;474;p22"/>
          <p:cNvSpPr/>
          <p:nvPr/>
        </p:nvSpPr>
        <p:spPr>
          <a:xfrm>
            <a:off x="11274480" y="6355080"/>
            <a:ext cx="639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C7A99"/>
                </a:solidFill>
                <a:effectLst/>
                <a:uFillTx/>
                <a:latin typeface="Calibri"/>
                <a:ea typeface="Calibri"/>
              </a:rPr>
              <a:t>20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480;p23"/>
          <p:cNvSpPr/>
          <p:nvPr/>
        </p:nvSpPr>
        <p:spPr>
          <a:xfrm>
            <a:off x="640080" y="457200"/>
            <a:ext cx="4571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10  ·  TIMELINE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Google Shape;481;p23"/>
          <p:cNvSpPr/>
          <p:nvPr/>
        </p:nvSpPr>
        <p:spPr>
          <a:xfrm>
            <a:off x="594360" y="731520"/>
            <a:ext cx="10881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0B2545"/>
                </a:solidFill>
                <a:effectLst/>
                <a:uFillTx/>
                <a:latin typeface="Cambria"/>
                <a:ea typeface="Cambria"/>
              </a:rPr>
              <a:t>Phase-wise distribution for a simulation-first plan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Google Shape;482;p23"/>
          <p:cNvSpPr/>
          <p:nvPr/>
        </p:nvSpPr>
        <p:spPr>
          <a:xfrm>
            <a:off x="3131280" y="1645920"/>
            <a:ext cx="8489520" cy="228240"/>
          </a:xfrm>
          <a:prstGeom prst="rect">
            <a:avLst/>
          </a:prstGeom>
          <a:solidFill>
            <a:srgbClr val="F5F8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79" name="Google Shape;483;p23"/>
          <p:cNvCxnSpPr/>
          <p:nvPr/>
        </p:nvCxnSpPr>
        <p:spPr>
          <a:xfrm>
            <a:off x="3130920" y="1645920"/>
            <a:ext cx="360" cy="2514960"/>
          </a:xfrm>
          <a:prstGeom prst="straightConnector1">
            <a:avLst/>
          </a:prstGeom>
          <a:ln w="9525">
            <a:solidFill>
              <a:srgbClr val="E7EDF2"/>
            </a:solidFill>
            <a:round/>
          </a:ln>
        </p:spPr>
      </p:cxnSp>
      <p:sp>
        <p:nvSpPr>
          <p:cNvPr id="380" name="Google Shape;484;p23"/>
          <p:cNvSpPr/>
          <p:nvPr/>
        </p:nvSpPr>
        <p:spPr>
          <a:xfrm>
            <a:off x="3131280" y="1645920"/>
            <a:ext cx="530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6E93B5"/>
                </a:solidFill>
                <a:effectLst/>
                <a:uFillTx/>
                <a:latin typeface="Calibri"/>
                <a:ea typeface="Calibri"/>
              </a:rPr>
              <a:t>W1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81" name="Google Shape;485;p23"/>
          <p:cNvCxnSpPr/>
          <p:nvPr/>
        </p:nvCxnSpPr>
        <p:spPr>
          <a:xfrm>
            <a:off x="3661560" y="1645920"/>
            <a:ext cx="360" cy="2514960"/>
          </a:xfrm>
          <a:prstGeom prst="straightConnector1">
            <a:avLst/>
          </a:prstGeom>
          <a:ln w="9525">
            <a:solidFill>
              <a:srgbClr val="E7EDF2"/>
            </a:solidFill>
            <a:round/>
          </a:ln>
        </p:spPr>
      </p:cxnSp>
      <p:cxnSp>
        <p:nvCxnSpPr>
          <p:cNvPr id="382" name="Google Shape;486;p23"/>
          <p:cNvCxnSpPr/>
          <p:nvPr/>
        </p:nvCxnSpPr>
        <p:spPr>
          <a:xfrm>
            <a:off x="4192200" y="1645920"/>
            <a:ext cx="360" cy="2514960"/>
          </a:xfrm>
          <a:prstGeom prst="straightConnector1">
            <a:avLst/>
          </a:prstGeom>
          <a:ln w="9525">
            <a:solidFill>
              <a:srgbClr val="E7EDF2"/>
            </a:solidFill>
            <a:round/>
          </a:ln>
        </p:spPr>
      </p:cxnSp>
      <p:sp>
        <p:nvSpPr>
          <p:cNvPr id="383" name="Google Shape;487;p23"/>
          <p:cNvSpPr/>
          <p:nvPr/>
        </p:nvSpPr>
        <p:spPr>
          <a:xfrm>
            <a:off x="4192560" y="1645920"/>
            <a:ext cx="530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6E93B5"/>
                </a:solidFill>
                <a:effectLst/>
                <a:uFillTx/>
                <a:latin typeface="Calibri"/>
                <a:ea typeface="Calibri"/>
              </a:rPr>
              <a:t>W3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84" name="Google Shape;488;p23"/>
          <p:cNvCxnSpPr/>
          <p:nvPr/>
        </p:nvCxnSpPr>
        <p:spPr>
          <a:xfrm>
            <a:off x="4722840" y="1645920"/>
            <a:ext cx="360" cy="2514960"/>
          </a:xfrm>
          <a:prstGeom prst="straightConnector1">
            <a:avLst/>
          </a:prstGeom>
          <a:ln w="9525">
            <a:solidFill>
              <a:srgbClr val="E7EDF2"/>
            </a:solidFill>
            <a:round/>
          </a:ln>
        </p:spPr>
      </p:cxnSp>
      <p:cxnSp>
        <p:nvCxnSpPr>
          <p:cNvPr id="385" name="Google Shape;489;p23"/>
          <p:cNvCxnSpPr/>
          <p:nvPr/>
        </p:nvCxnSpPr>
        <p:spPr>
          <a:xfrm>
            <a:off x="5253480" y="1645920"/>
            <a:ext cx="360" cy="2514960"/>
          </a:xfrm>
          <a:prstGeom prst="straightConnector1">
            <a:avLst/>
          </a:prstGeom>
          <a:ln w="9525">
            <a:solidFill>
              <a:srgbClr val="E7EDF2"/>
            </a:solidFill>
            <a:round/>
          </a:ln>
        </p:spPr>
      </p:cxnSp>
      <p:sp>
        <p:nvSpPr>
          <p:cNvPr id="386" name="Google Shape;490;p23"/>
          <p:cNvSpPr/>
          <p:nvPr/>
        </p:nvSpPr>
        <p:spPr>
          <a:xfrm>
            <a:off x="5253840" y="1645920"/>
            <a:ext cx="530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6E93B5"/>
                </a:solidFill>
                <a:effectLst/>
                <a:uFillTx/>
                <a:latin typeface="Calibri"/>
                <a:ea typeface="Calibri"/>
              </a:rPr>
              <a:t>W5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87" name="Google Shape;491;p23"/>
          <p:cNvCxnSpPr/>
          <p:nvPr/>
        </p:nvCxnSpPr>
        <p:spPr>
          <a:xfrm>
            <a:off x="5784120" y="1645920"/>
            <a:ext cx="360" cy="2514960"/>
          </a:xfrm>
          <a:prstGeom prst="straightConnector1">
            <a:avLst/>
          </a:prstGeom>
          <a:ln w="9525">
            <a:solidFill>
              <a:srgbClr val="E7EDF2"/>
            </a:solidFill>
            <a:round/>
          </a:ln>
        </p:spPr>
      </p:cxnSp>
      <p:cxnSp>
        <p:nvCxnSpPr>
          <p:cNvPr id="388" name="Google Shape;492;p23"/>
          <p:cNvCxnSpPr/>
          <p:nvPr/>
        </p:nvCxnSpPr>
        <p:spPr>
          <a:xfrm>
            <a:off x="6314760" y="1645920"/>
            <a:ext cx="360" cy="2514960"/>
          </a:xfrm>
          <a:prstGeom prst="straightConnector1">
            <a:avLst/>
          </a:prstGeom>
          <a:ln w="9525">
            <a:solidFill>
              <a:srgbClr val="E7EDF2"/>
            </a:solidFill>
            <a:round/>
          </a:ln>
        </p:spPr>
      </p:cxnSp>
      <p:sp>
        <p:nvSpPr>
          <p:cNvPr id="389" name="Google Shape;493;p23"/>
          <p:cNvSpPr/>
          <p:nvPr/>
        </p:nvSpPr>
        <p:spPr>
          <a:xfrm>
            <a:off x="6314760" y="1645920"/>
            <a:ext cx="530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6E93B5"/>
                </a:solidFill>
                <a:effectLst/>
                <a:uFillTx/>
                <a:latin typeface="Calibri"/>
                <a:ea typeface="Calibri"/>
              </a:rPr>
              <a:t>W7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90" name="Google Shape;494;p23"/>
          <p:cNvCxnSpPr/>
          <p:nvPr/>
        </p:nvCxnSpPr>
        <p:spPr>
          <a:xfrm>
            <a:off x="6845400" y="1645920"/>
            <a:ext cx="360" cy="2514960"/>
          </a:xfrm>
          <a:prstGeom prst="straightConnector1">
            <a:avLst/>
          </a:prstGeom>
          <a:ln w="9525">
            <a:solidFill>
              <a:srgbClr val="E7EDF2"/>
            </a:solidFill>
            <a:round/>
          </a:ln>
        </p:spPr>
      </p:cxnSp>
      <p:cxnSp>
        <p:nvCxnSpPr>
          <p:cNvPr id="391" name="Google Shape;495;p23"/>
          <p:cNvCxnSpPr/>
          <p:nvPr/>
        </p:nvCxnSpPr>
        <p:spPr>
          <a:xfrm>
            <a:off x="7376040" y="1645920"/>
            <a:ext cx="360" cy="2514960"/>
          </a:xfrm>
          <a:prstGeom prst="straightConnector1">
            <a:avLst/>
          </a:prstGeom>
          <a:ln w="9525">
            <a:solidFill>
              <a:srgbClr val="E7EDF2"/>
            </a:solidFill>
            <a:round/>
          </a:ln>
        </p:spPr>
      </p:cxnSp>
      <p:sp>
        <p:nvSpPr>
          <p:cNvPr id="392" name="Google Shape;496;p23"/>
          <p:cNvSpPr/>
          <p:nvPr/>
        </p:nvSpPr>
        <p:spPr>
          <a:xfrm>
            <a:off x="7376040" y="1645920"/>
            <a:ext cx="530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6E93B5"/>
                </a:solidFill>
                <a:effectLst/>
                <a:uFillTx/>
                <a:latin typeface="Calibri"/>
                <a:ea typeface="Calibri"/>
              </a:rPr>
              <a:t>W9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93" name="Google Shape;497;p23"/>
          <p:cNvCxnSpPr/>
          <p:nvPr/>
        </p:nvCxnSpPr>
        <p:spPr>
          <a:xfrm>
            <a:off x="7906680" y="1645920"/>
            <a:ext cx="360" cy="2514960"/>
          </a:xfrm>
          <a:prstGeom prst="straightConnector1">
            <a:avLst/>
          </a:prstGeom>
          <a:ln w="9525">
            <a:solidFill>
              <a:srgbClr val="E7EDF2"/>
            </a:solidFill>
            <a:round/>
          </a:ln>
        </p:spPr>
      </p:cxnSp>
      <p:cxnSp>
        <p:nvCxnSpPr>
          <p:cNvPr id="394" name="Google Shape;498;p23"/>
          <p:cNvCxnSpPr/>
          <p:nvPr/>
        </p:nvCxnSpPr>
        <p:spPr>
          <a:xfrm>
            <a:off x="8437320" y="1645920"/>
            <a:ext cx="360" cy="2514960"/>
          </a:xfrm>
          <a:prstGeom prst="straightConnector1">
            <a:avLst/>
          </a:prstGeom>
          <a:ln w="9525">
            <a:solidFill>
              <a:srgbClr val="E7EDF2"/>
            </a:solidFill>
            <a:round/>
          </a:ln>
        </p:spPr>
      </p:cxnSp>
      <p:sp>
        <p:nvSpPr>
          <p:cNvPr id="395" name="Google Shape;499;p23"/>
          <p:cNvSpPr/>
          <p:nvPr/>
        </p:nvSpPr>
        <p:spPr>
          <a:xfrm>
            <a:off x="8437320" y="1645920"/>
            <a:ext cx="530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6E93B5"/>
                </a:solidFill>
                <a:effectLst/>
                <a:uFillTx/>
                <a:latin typeface="Calibri"/>
                <a:ea typeface="Calibri"/>
              </a:rPr>
              <a:t>W11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96" name="Google Shape;500;p23"/>
          <p:cNvCxnSpPr/>
          <p:nvPr/>
        </p:nvCxnSpPr>
        <p:spPr>
          <a:xfrm>
            <a:off x="8967960" y="1645920"/>
            <a:ext cx="360" cy="2514960"/>
          </a:xfrm>
          <a:prstGeom prst="straightConnector1">
            <a:avLst/>
          </a:prstGeom>
          <a:ln w="9525">
            <a:solidFill>
              <a:srgbClr val="E7EDF2"/>
            </a:solidFill>
            <a:round/>
          </a:ln>
        </p:spPr>
      </p:cxnSp>
      <p:cxnSp>
        <p:nvCxnSpPr>
          <p:cNvPr id="397" name="Google Shape;501;p23"/>
          <p:cNvCxnSpPr/>
          <p:nvPr/>
        </p:nvCxnSpPr>
        <p:spPr>
          <a:xfrm>
            <a:off x="9498600" y="1645920"/>
            <a:ext cx="360" cy="2514960"/>
          </a:xfrm>
          <a:prstGeom prst="straightConnector1">
            <a:avLst/>
          </a:prstGeom>
          <a:ln w="9525">
            <a:solidFill>
              <a:srgbClr val="E7EDF2"/>
            </a:solidFill>
            <a:round/>
          </a:ln>
        </p:spPr>
      </p:cxnSp>
      <p:sp>
        <p:nvSpPr>
          <p:cNvPr id="398" name="Google Shape;502;p23"/>
          <p:cNvSpPr/>
          <p:nvPr/>
        </p:nvSpPr>
        <p:spPr>
          <a:xfrm>
            <a:off x="9498600" y="1645920"/>
            <a:ext cx="530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6E93B5"/>
                </a:solidFill>
                <a:effectLst/>
                <a:uFillTx/>
                <a:latin typeface="Calibri"/>
                <a:ea typeface="Calibri"/>
              </a:rPr>
              <a:t>W13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99" name="Google Shape;503;p23"/>
          <p:cNvCxnSpPr/>
          <p:nvPr/>
        </p:nvCxnSpPr>
        <p:spPr>
          <a:xfrm>
            <a:off x="10029240" y="1645920"/>
            <a:ext cx="360" cy="2514960"/>
          </a:xfrm>
          <a:prstGeom prst="straightConnector1">
            <a:avLst/>
          </a:prstGeom>
          <a:ln w="9525">
            <a:solidFill>
              <a:srgbClr val="E7EDF2"/>
            </a:solidFill>
            <a:round/>
          </a:ln>
        </p:spPr>
      </p:cxnSp>
      <p:cxnSp>
        <p:nvCxnSpPr>
          <p:cNvPr id="400" name="Google Shape;504;p23"/>
          <p:cNvCxnSpPr/>
          <p:nvPr/>
        </p:nvCxnSpPr>
        <p:spPr>
          <a:xfrm>
            <a:off x="10559880" y="1645920"/>
            <a:ext cx="360" cy="2514960"/>
          </a:xfrm>
          <a:prstGeom prst="straightConnector1">
            <a:avLst/>
          </a:prstGeom>
          <a:ln w="9525">
            <a:solidFill>
              <a:srgbClr val="E7EDF2"/>
            </a:solidFill>
            <a:round/>
          </a:ln>
        </p:spPr>
      </p:cxnSp>
      <p:sp>
        <p:nvSpPr>
          <p:cNvPr id="401" name="Google Shape;505;p23"/>
          <p:cNvSpPr/>
          <p:nvPr/>
        </p:nvSpPr>
        <p:spPr>
          <a:xfrm>
            <a:off x="10559880" y="1645920"/>
            <a:ext cx="530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6E93B5"/>
                </a:solidFill>
                <a:effectLst/>
                <a:uFillTx/>
                <a:latin typeface="Calibri"/>
                <a:ea typeface="Calibri"/>
              </a:rPr>
              <a:t>W15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02" name="Google Shape;506;p23"/>
          <p:cNvCxnSpPr/>
          <p:nvPr/>
        </p:nvCxnSpPr>
        <p:spPr>
          <a:xfrm>
            <a:off x="11090160" y="1645920"/>
            <a:ext cx="360" cy="2514960"/>
          </a:xfrm>
          <a:prstGeom prst="straightConnector1">
            <a:avLst/>
          </a:prstGeom>
          <a:ln w="9525">
            <a:solidFill>
              <a:srgbClr val="E7EDF2"/>
            </a:solidFill>
            <a:round/>
          </a:ln>
        </p:spPr>
      </p:cxnSp>
      <p:sp>
        <p:nvSpPr>
          <p:cNvPr id="403" name="Google Shape;507;p23"/>
          <p:cNvSpPr/>
          <p:nvPr/>
        </p:nvSpPr>
        <p:spPr>
          <a:xfrm>
            <a:off x="570960" y="195084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B2545"/>
                </a:solidFill>
                <a:effectLst/>
                <a:uFillTx/>
                <a:latin typeface="Calibri"/>
                <a:ea typeface="Calibri"/>
              </a:rPr>
              <a:t>Environment &amp; Fault Injection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Google Shape;508;p23"/>
          <p:cNvSpPr/>
          <p:nvPr/>
        </p:nvSpPr>
        <p:spPr>
          <a:xfrm>
            <a:off x="570960" y="2225160"/>
            <a:ext cx="2377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29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E93B5"/>
                </a:solidFill>
                <a:effectLst/>
                <a:uFillTx/>
                <a:latin typeface="Calibri"/>
                <a:ea typeface="Calibri"/>
              </a:rPr>
              <a:t>2D vessel dynamics, moving target, noisy sensing and injected sensor/robot/network faults.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Google Shape;509;p23"/>
          <p:cNvSpPr/>
          <p:nvPr/>
        </p:nvSpPr>
        <p:spPr>
          <a:xfrm>
            <a:off x="3131280" y="1950840"/>
            <a:ext cx="8489520" cy="456840"/>
          </a:xfrm>
          <a:prstGeom prst="rect">
            <a:avLst/>
          </a:prstGeom>
          <a:solidFill>
            <a:srgbClr val="F5F8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Google Shape;510;p23"/>
          <p:cNvSpPr/>
          <p:nvPr/>
        </p:nvSpPr>
        <p:spPr>
          <a:xfrm>
            <a:off x="3131280" y="1950840"/>
            <a:ext cx="2122200" cy="456840"/>
          </a:xfrm>
          <a:prstGeom prst="roundRect">
            <a:avLst>
              <a:gd name="adj" fmla="val 1800"/>
            </a:avLst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7" name="Google Shape;511;p23"/>
          <p:cNvSpPr/>
          <p:nvPr/>
        </p:nvSpPr>
        <p:spPr>
          <a:xfrm>
            <a:off x="3131280" y="1950840"/>
            <a:ext cx="2122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W1–4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Google Shape;512;p23"/>
          <p:cNvSpPr/>
          <p:nvPr/>
        </p:nvSpPr>
        <p:spPr>
          <a:xfrm>
            <a:off x="570960" y="253728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B2545"/>
                </a:solidFill>
                <a:effectLst/>
                <a:uFillTx/>
                <a:latin typeface="Calibri"/>
                <a:ea typeface="Calibri"/>
              </a:rPr>
              <a:t>Diagnosis Model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Google Shape;513;p23"/>
          <p:cNvSpPr/>
          <p:nvPr/>
        </p:nvSpPr>
        <p:spPr>
          <a:xfrm>
            <a:off x="570960" y="2758320"/>
            <a:ext cx="2377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29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E93B5"/>
                </a:solidFill>
                <a:effectLst/>
                <a:uFillTx/>
                <a:latin typeface="Calibri"/>
                <a:ea typeface="Calibri"/>
              </a:rPr>
              <a:t>Generate labeled telemetry and train the fault classifier (XGBoost / GRU).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Google Shape;514;p23"/>
          <p:cNvSpPr/>
          <p:nvPr/>
        </p:nvSpPr>
        <p:spPr>
          <a:xfrm>
            <a:off x="3131280" y="2484000"/>
            <a:ext cx="8489520" cy="456840"/>
          </a:xfrm>
          <a:prstGeom prst="rect">
            <a:avLst/>
          </a:prstGeom>
          <a:solidFill>
            <a:srgbClr val="F5F8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Google Shape;515;p23"/>
          <p:cNvSpPr/>
          <p:nvPr/>
        </p:nvSpPr>
        <p:spPr>
          <a:xfrm>
            <a:off x="5253840" y="2484000"/>
            <a:ext cx="1591560" cy="456840"/>
          </a:xfrm>
          <a:prstGeom prst="roundRect">
            <a:avLst>
              <a:gd name="adj" fmla="val 1800"/>
            </a:avLst>
          </a:prstGeom>
          <a:solidFill>
            <a:srgbClr val="0B254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2" name="Google Shape;516;p23"/>
          <p:cNvSpPr/>
          <p:nvPr/>
        </p:nvSpPr>
        <p:spPr>
          <a:xfrm>
            <a:off x="5253840" y="2484000"/>
            <a:ext cx="1591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W5–7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Google Shape;517;p23"/>
          <p:cNvSpPr/>
          <p:nvPr/>
        </p:nvSpPr>
        <p:spPr>
          <a:xfrm>
            <a:off x="570960" y="307080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B2545"/>
                </a:solidFill>
                <a:effectLst/>
                <a:uFillTx/>
                <a:latin typeface="Calibri"/>
                <a:ea typeface="Calibri"/>
              </a:rPr>
              <a:t>FA-MAPPO Training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Google Shape;518;p23"/>
          <p:cNvSpPr/>
          <p:nvPr/>
        </p:nvSpPr>
        <p:spPr>
          <a:xfrm>
            <a:off x="570960" y="3291840"/>
            <a:ext cx="2377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29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E93B5"/>
                </a:solidFill>
                <a:effectLst/>
                <a:uFillTx/>
                <a:latin typeface="Calibri"/>
                <a:ea typeface="Calibri"/>
              </a:rPr>
              <a:t>Train the health-aware policy; tune reward shaping and role reassignment.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Google Shape;519;p23"/>
          <p:cNvSpPr/>
          <p:nvPr/>
        </p:nvSpPr>
        <p:spPr>
          <a:xfrm>
            <a:off x="3131280" y="3017520"/>
            <a:ext cx="8489520" cy="456840"/>
          </a:xfrm>
          <a:prstGeom prst="rect">
            <a:avLst/>
          </a:prstGeom>
          <a:solidFill>
            <a:srgbClr val="F5F8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Google Shape;520;p23"/>
          <p:cNvSpPr/>
          <p:nvPr/>
        </p:nvSpPr>
        <p:spPr>
          <a:xfrm>
            <a:off x="6845400" y="3017520"/>
            <a:ext cx="2122200" cy="456840"/>
          </a:xfrm>
          <a:prstGeom prst="roundRect">
            <a:avLst>
              <a:gd name="adj" fmla="val 1800"/>
            </a:avLst>
          </a:prstGeom>
          <a:solidFill>
            <a:srgbClr val="FF6B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7" name="Google Shape;521;p23"/>
          <p:cNvSpPr/>
          <p:nvPr/>
        </p:nvSpPr>
        <p:spPr>
          <a:xfrm>
            <a:off x="6845400" y="3017520"/>
            <a:ext cx="2122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W8–11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Google Shape;522;p23"/>
          <p:cNvSpPr/>
          <p:nvPr/>
        </p:nvSpPr>
        <p:spPr>
          <a:xfrm>
            <a:off x="570960" y="360432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B2545"/>
                </a:solidFill>
                <a:effectLst/>
                <a:uFillTx/>
                <a:latin typeface="Calibri"/>
                <a:ea typeface="Calibri"/>
              </a:rPr>
              <a:t>Integration &amp; Ablations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Google Shape;523;p23"/>
          <p:cNvSpPr/>
          <p:nvPr/>
        </p:nvSpPr>
        <p:spPr>
          <a:xfrm>
            <a:off x="570960" y="3825360"/>
            <a:ext cx="2377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29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E93B5"/>
                </a:solidFill>
                <a:effectLst/>
                <a:uFillTx/>
                <a:latin typeface="Calibri"/>
                <a:ea typeface="Calibri"/>
              </a:rPr>
              <a:t>Close the diagnose-plan-act-verify loop; run ablations and baseline comparisons.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Google Shape;524;p23"/>
          <p:cNvSpPr/>
          <p:nvPr/>
        </p:nvSpPr>
        <p:spPr>
          <a:xfrm>
            <a:off x="3131280" y="3551040"/>
            <a:ext cx="8489520" cy="456840"/>
          </a:xfrm>
          <a:prstGeom prst="rect">
            <a:avLst/>
          </a:prstGeom>
          <a:solidFill>
            <a:srgbClr val="F5F8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Google Shape;525;p23"/>
          <p:cNvSpPr/>
          <p:nvPr/>
        </p:nvSpPr>
        <p:spPr>
          <a:xfrm>
            <a:off x="8967960" y="3551040"/>
            <a:ext cx="1591560" cy="456840"/>
          </a:xfrm>
          <a:prstGeom prst="roundRect">
            <a:avLst>
              <a:gd name="adj" fmla="val 1800"/>
            </a:avLst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2" name="Google Shape;526;p23"/>
          <p:cNvSpPr/>
          <p:nvPr/>
        </p:nvSpPr>
        <p:spPr>
          <a:xfrm>
            <a:off x="8967960" y="3551040"/>
            <a:ext cx="1591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W12–14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Google Shape;527;p23"/>
          <p:cNvSpPr/>
          <p:nvPr/>
        </p:nvSpPr>
        <p:spPr>
          <a:xfrm>
            <a:off x="570960" y="416808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B2545"/>
                </a:solidFill>
                <a:effectLst/>
                <a:uFillTx/>
                <a:latin typeface="Calibri"/>
                <a:ea typeface="Calibri"/>
              </a:rPr>
              <a:t>Evidence, Buffer &amp; Paper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Google Shape;528;p23"/>
          <p:cNvSpPr/>
          <p:nvPr/>
        </p:nvSpPr>
        <p:spPr>
          <a:xfrm>
            <a:off x="570960" y="4358520"/>
            <a:ext cx="2377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29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E93B5"/>
                </a:solidFill>
                <a:effectLst/>
                <a:uFillTx/>
                <a:latin typeface="Calibri"/>
                <a:ea typeface="Calibri"/>
              </a:rPr>
              <a:t>Statistics, VRX demo subset, schedule buffer and final report.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Google Shape;529;p23"/>
          <p:cNvSpPr/>
          <p:nvPr/>
        </p:nvSpPr>
        <p:spPr>
          <a:xfrm>
            <a:off x="3131280" y="4084200"/>
            <a:ext cx="8489520" cy="456840"/>
          </a:xfrm>
          <a:prstGeom prst="rect">
            <a:avLst/>
          </a:prstGeom>
          <a:solidFill>
            <a:srgbClr val="F5F8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Google Shape;530;p23"/>
          <p:cNvSpPr/>
          <p:nvPr/>
        </p:nvSpPr>
        <p:spPr>
          <a:xfrm>
            <a:off x="10559880" y="4084200"/>
            <a:ext cx="1060920" cy="456840"/>
          </a:xfrm>
          <a:prstGeom prst="roundRect">
            <a:avLst>
              <a:gd name="adj" fmla="val 1800"/>
            </a:avLst>
          </a:prstGeom>
          <a:solidFill>
            <a:srgbClr val="0B254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7" name="Google Shape;531;p23"/>
          <p:cNvSpPr/>
          <p:nvPr/>
        </p:nvSpPr>
        <p:spPr>
          <a:xfrm>
            <a:off x="10559880" y="4084200"/>
            <a:ext cx="1060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W15–16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Google Shape;532;p23"/>
          <p:cNvSpPr/>
          <p:nvPr/>
        </p:nvSpPr>
        <p:spPr>
          <a:xfrm>
            <a:off x="570960" y="4663440"/>
            <a:ext cx="10908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44586E"/>
                </a:solidFill>
                <a:effectLst/>
                <a:uFillTx/>
                <a:latin typeface="Calibri"/>
                <a:ea typeface="Calibri"/>
              </a:rPr>
              <a:t>SCOPE GUARDRAILS — pretrained/simulated perception · one moving target · high-level waypoints · no physical weapons · VRX only after the Python study is validated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Google Shape;533;p23"/>
          <p:cNvSpPr/>
          <p:nvPr/>
        </p:nvSpPr>
        <p:spPr>
          <a:xfrm>
            <a:off x="640080" y="5303520"/>
            <a:ext cx="3999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HOW SUCCESS IS MEASURED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Google Shape;534;p23"/>
          <p:cNvSpPr/>
          <p:nvPr/>
        </p:nvSpPr>
        <p:spPr>
          <a:xfrm>
            <a:off x="640080" y="5715000"/>
            <a:ext cx="1779840" cy="594000"/>
          </a:xfrm>
          <a:prstGeom prst="roundRect">
            <a:avLst>
              <a:gd name="adj" fmla="val 1000"/>
            </a:avLst>
          </a:prstGeom>
          <a:solidFill>
            <a:srgbClr val="0B254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1" name="Google Shape;535;p23"/>
          <p:cNvSpPr/>
          <p:nvPr/>
        </p:nvSpPr>
        <p:spPr>
          <a:xfrm>
            <a:off x="777240" y="5715000"/>
            <a:ext cx="3196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6B35"/>
                </a:solidFill>
                <a:effectLst/>
                <a:uFillTx/>
                <a:latin typeface="Cambria"/>
                <a:ea typeface="Cambria"/>
              </a:rPr>
              <a:t>01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Google Shape;536;p23"/>
          <p:cNvSpPr/>
          <p:nvPr/>
        </p:nvSpPr>
        <p:spPr>
          <a:xfrm>
            <a:off x="1097280" y="5715000"/>
            <a:ext cx="12798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21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Mission success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Google Shape;537;p23"/>
          <p:cNvSpPr/>
          <p:nvPr/>
        </p:nvSpPr>
        <p:spPr>
          <a:xfrm>
            <a:off x="2466000" y="5715000"/>
            <a:ext cx="1779840" cy="594000"/>
          </a:xfrm>
          <a:prstGeom prst="roundRect">
            <a:avLst>
              <a:gd name="adj" fmla="val 1000"/>
            </a:avLst>
          </a:prstGeom>
          <a:solidFill>
            <a:srgbClr val="0B254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4" name="Google Shape;538;p23"/>
          <p:cNvSpPr/>
          <p:nvPr/>
        </p:nvSpPr>
        <p:spPr>
          <a:xfrm>
            <a:off x="2603160" y="5715000"/>
            <a:ext cx="3196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6B35"/>
                </a:solidFill>
                <a:effectLst/>
                <a:uFillTx/>
                <a:latin typeface="Cambria"/>
                <a:ea typeface="Cambria"/>
              </a:rPr>
              <a:t>02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Google Shape;539;p23"/>
          <p:cNvSpPr/>
          <p:nvPr/>
        </p:nvSpPr>
        <p:spPr>
          <a:xfrm>
            <a:off x="2923200" y="5715000"/>
            <a:ext cx="12798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21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Recovery time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Google Shape;540;p23"/>
          <p:cNvSpPr/>
          <p:nvPr/>
        </p:nvSpPr>
        <p:spPr>
          <a:xfrm>
            <a:off x="4291560" y="5715000"/>
            <a:ext cx="1779840" cy="594000"/>
          </a:xfrm>
          <a:prstGeom prst="roundRect">
            <a:avLst>
              <a:gd name="adj" fmla="val 1000"/>
            </a:avLst>
          </a:prstGeom>
          <a:solidFill>
            <a:srgbClr val="0B254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7" name="Google Shape;541;p23"/>
          <p:cNvSpPr/>
          <p:nvPr/>
        </p:nvSpPr>
        <p:spPr>
          <a:xfrm>
            <a:off x="4428720" y="5715000"/>
            <a:ext cx="3196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6B35"/>
                </a:solidFill>
                <a:effectLst/>
                <a:uFillTx/>
                <a:latin typeface="Cambria"/>
                <a:ea typeface="Cambria"/>
              </a:rPr>
              <a:t>03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Google Shape;542;p23"/>
          <p:cNvSpPr/>
          <p:nvPr/>
        </p:nvSpPr>
        <p:spPr>
          <a:xfrm>
            <a:off x="4748760" y="5715000"/>
            <a:ext cx="12798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21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Fault Macro-F1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Google Shape;543;p23"/>
          <p:cNvSpPr/>
          <p:nvPr/>
        </p:nvSpPr>
        <p:spPr>
          <a:xfrm>
            <a:off x="6117480" y="5715000"/>
            <a:ext cx="1779840" cy="594000"/>
          </a:xfrm>
          <a:prstGeom prst="roundRect">
            <a:avLst>
              <a:gd name="adj" fmla="val 1000"/>
            </a:avLst>
          </a:prstGeom>
          <a:solidFill>
            <a:srgbClr val="0B254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0" name="Google Shape;544;p23"/>
          <p:cNvSpPr/>
          <p:nvPr/>
        </p:nvSpPr>
        <p:spPr>
          <a:xfrm>
            <a:off x="6254640" y="5715000"/>
            <a:ext cx="3196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6B35"/>
                </a:solidFill>
                <a:effectLst/>
                <a:uFillTx/>
                <a:latin typeface="Cambria"/>
                <a:ea typeface="Cambria"/>
              </a:rPr>
              <a:t>04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Google Shape;545;p23"/>
          <p:cNvSpPr/>
          <p:nvPr/>
        </p:nvSpPr>
        <p:spPr>
          <a:xfrm>
            <a:off x="6574680" y="5715000"/>
            <a:ext cx="12798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21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Lost-target time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Google Shape;546;p23"/>
          <p:cNvSpPr/>
          <p:nvPr/>
        </p:nvSpPr>
        <p:spPr>
          <a:xfrm>
            <a:off x="7943040" y="5715000"/>
            <a:ext cx="1779840" cy="594000"/>
          </a:xfrm>
          <a:prstGeom prst="roundRect">
            <a:avLst>
              <a:gd name="adj" fmla="val 1000"/>
            </a:avLst>
          </a:prstGeom>
          <a:solidFill>
            <a:srgbClr val="0B254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3" name="Google Shape;547;p23"/>
          <p:cNvSpPr/>
          <p:nvPr/>
        </p:nvSpPr>
        <p:spPr>
          <a:xfrm>
            <a:off x="8080200" y="5715000"/>
            <a:ext cx="3196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6B35"/>
                </a:solidFill>
                <a:effectLst/>
                <a:uFillTx/>
                <a:latin typeface="Cambria"/>
                <a:ea typeface="Cambria"/>
              </a:rPr>
              <a:t>05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Google Shape;548;p23"/>
          <p:cNvSpPr/>
          <p:nvPr/>
        </p:nvSpPr>
        <p:spPr>
          <a:xfrm>
            <a:off x="8400240" y="5715000"/>
            <a:ext cx="12798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21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Collision rate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Google Shape;549;p23"/>
          <p:cNvSpPr/>
          <p:nvPr/>
        </p:nvSpPr>
        <p:spPr>
          <a:xfrm>
            <a:off x="9768960" y="5715000"/>
            <a:ext cx="1779840" cy="594000"/>
          </a:xfrm>
          <a:prstGeom prst="roundRect">
            <a:avLst>
              <a:gd name="adj" fmla="val 1000"/>
            </a:avLst>
          </a:prstGeom>
          <a:solidFill>
            <a:srgbClr val="0B254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6" name="Google Shape;550;p23"/>
          <p:cNvSpPr/>
          <p:nvPr/>
        </p:nvSpPr>
        <p:spPr>
          <a:xfrm>
            <a:off x="9906120" y="5715000"/>
            <a:ext cx="3196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6B35"/>
                </a:solidFill>
                <a:effectLst/>
                <a:uFillTx/>
                <a:latin typeface="Cambria"/>
                <a:ea typeface="Cambria"/>
              </a:rPr>
              <a:t>06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Google Shape;551;p23"/>
          <p:cNvSpPr/>
          <p:nvPr/>
        </p:nvSpPr>
        <p:spPr>
          <a:xfrm>
            <a:off x="10226160" y="5715000"/>
            <a:ext cx="12798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21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Energy + messages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Google Shape;552;p23"/>
          <p:cNvSpPr/>
          <p:nvPr/>
        </p:nvSpPr>
        <p:spPr>
          <a:xfrm>
            <a:off x="11274480" y="6355080"/>
            <a:ext cx="639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C7A99"/>
                </a:solidFill>
                <a:effectLst/>
                <a:uFillTx/>
                <a:latin typeface="Calibri"/>
                <a:ea typeface="Calibri"/>
              </a:rPr>
              <a:t>21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558;p24"/>
          <p:cNvSpPr/>
          <p:nvPr/>
        </p:nvSpPr>
        <p:spPr>
          <a:xfrm>
            <a:off x="640080" y="502920"/>
            <a:ext cx="4571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7FC7C2"/>
                </a:solidFill>
                <a:effectLst/>
                <a:uFillTx/>
                <a:latin typeface="Calibri"/>
                <a:ea typeface="Calibri"/>
              </a:rPr>
              <a:t>11  ·  CONCLUSION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0" name="Google Shape;559;p24"/>
          <p:cNvSpPr/>
          <p:nvPr/>
        </p:nvSpPr>
        <p:spPr>
          <a:xfrm>
            <a:off x="653760" y="966960"/>
            <a:ext cx="1088100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21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Approve a simulation-first capstone on agentic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21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self-healing marine swarms.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1" name="Google Shape;560;p24"/>
          <p:cNvSpPr/>
          <p:nvPr/>
        </p:nvSpPr>
        <p:spPr>
          <a:xfrm>
            <a:off x="640080" y="2880360"/>
            <a:ext cx="3428640" cy="1919880"/>
          </a:xfrm>
          <a:prstGeom prst="rect">
            <a:avLst/>
          </a:prstGeom>
          <a:solidFill>
            <a:srgbClr val="1331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2" name="Google Shape;561;p24"/>
          <p:cNvSpPr/>
          <p:nvPr/>
        </p:nvSpPr>
        <p:spPr>
          <a:xfrm>
            <a:off x="914400" y="3154680"/>
            <a:ext cx="639720" cy="63972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53" name="Google Shape;562;p24" descr="icons/flask_FFFFFF.png"/>
          <p:cNvPicPr/>
          <p:nvPr/>
        </p:nvPicPr>
        <p:blipFill>
          <a:blip r:embed="rId1"/>
          <a:stretch/>
        </p:blipFill>
        <p:spPr>
          <a:xfrm>
            <a:off x="1068120" y="3308400"/>
            <a:ext cx="332640" cy="332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4" name="Google Shape;563;p24"/>
          <p:cNvSpPr/>
          <p:nvPr/>
        </p:nvSpPr>
        <p:spPr>
          <a:xfrm>
            <a:off x="914400" y="3840480"/>
            <a:ext cx="2880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Reproducible Simulator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5" name="Google Shape;564;p24"/>
          <p:cNvSpPr/>
          <p:nvPr/>
        </p:nvSpPr>
        <p:spPr>
          <a:xfrm>
            <a:off x="914400" y="4206240"/>
            <a:ext cx="2880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23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B9CDE0"/>
                </a:solidFill>
                <a:effectLst/>
                <a:uFillTx/>
                <a:latin typeface="Calibri"/>
                <a:ea typeface="Calibri"/>
              </a:rPr>
              <a:t>Fault injection, swarm mission and visual demo across Python and VRX.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6" name="Google Shape;565;p24"/>
          <p:cNvSpPr/>
          <p:nvPr/>
        </p:nvSpPr>
        <p:spPr>
          <a:xfrm>
            <a:off x="4297680" y="2880360"/>
            <a:ext cx="3428640" cy="1919880"/>
          </a:xfrm>
          <a:prstGeom prst="rect">
            <a:avLst/>
          </a:prstGeom>
          <a:solidFill>
            <a:srgbClr val="1331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7" name="Google Shape;566;p24"/>
          <p:cNvSpPr/>
          <p:nvPr/>
        </p:nvSpPr>
        <p:spPr>
          <a:xfrm>
            <a:off x="4572000" y="3154680"/>
            <a:ext cx="639720" cy="63972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58" name="Google Shape;567;p24" descr="icons/brain_FFFFFF.png"/>
          <p:cNvPicPr/>
          <p:nvPr/>
        </p:nvPicPr>
        <p:blipFill>
          <a:blip r:embed="rId2"/>
          <a:stretch/>
        </p:blipFill>
        <p:spPr>
          <a:xfrm>
            <a:off x="4725720" y="3308400"/>
            <a:ext cx="332640" cy="332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9" name="Google Shape;568;p24"/>
          <p:cNvSpPr/>
          <p:nvPr/>
        </p:nvSpPr>
        <p:spPr>
          <a:xfrm>
            <a:off x="4572000" y="3840480"/>
            <a:ext cx="2880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Tested AI Method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0" name="Google Shape;569;p24"/>
          <p:cNvSpPr/>
          <p:nvPr/>
        </p:nvSpPr>
        <p:spPr>
          <a:xfrm>
            <a:off x="4572000" y="4206240"/>
            <a:ext cx="2880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23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B9CDE0"/>
                </a:solidFill>
                <a:effectLst/>
                <a:uFillTx/>
                <a:latin typeface="Calibri"/>
                <a:ea typeface="Calibri"/>
              </a:rPr>
              <a:t>Diagnosis model + FA-MAPPO + agentic verification, validated end to end.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1" name="Google Shape;570;p24"/>
          <p:cNvSpPr/>
          <p:nvPr/>
        </p:nvSpPr>
        <p:spPr>
          <a:xfrm>
            <a:off x="7955280" y="2880360"/>
            <a:ext cx="3428640" cy="1919880"/>
          </a:xfrm>
          <a:prstGeom prst="rect">
            <a:avLst/>
          </a:prstGeom>
          <a:solidFill>
            <a:srgbClr val="1331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2" name="Google Shape;571;p24"/>
          <p:cNvSpPr/>
          <p:nvPr/>
        </p:nvSpPr>
        <p:spPr>
          <a:xfrm>
            <a:off x="8229600" y="3154680"/>
            <a:ext cx="639720" cy="63972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63" name="Google Shape;572;p24" descr="icons/book_FFFFFF.png"/>
          <p:cNvPicPr/>
          <p:nvPr/>
        </p:nvPicPr>
        <p:blipFill>
          <a:blip r:embed="rId3"/>
          <a:stretch/>
        </p:blipFill>
        <p:spPr>
          <a:xfrm>
            <a:off x="8383320" y="3308400"/>
            <a:ext cx="332640" cy="332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4" name="Google Shape;573;p24"/>
          <p:cNvSpPr/>
          <p:nvPr/>
        </p:nvSpPr>
        <p:spPr>
          <a:xfrm>
            <a:off x="8229600" y="3840480"/>
            <a:ext cx="2880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Research Paper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5" name="Google Shape;574;p24"/>
          <p:cNvSpPr/>
          <p:nvPr/>
        </p:nvSpPr>
        <p:spPr>
          <a:xfrm>
            <a:off x="8229600" y="4206240"/>
            <a:ext cx="2880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23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B9CDE0"/>
                </a:solidFill>
                <a:effectLst/>
                <a:uFillTx/>
                <a:latin typeface="Calibri"/>
                <a:ea typeface="Calibri"/>
              </a:rPr>
              <a:t>Baselines, ablations, statistics and limitations, grounded in 15 reviewed papers.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6" name="Google Shape;575;p24"/>
          <p:cNvSpPr/>
          <p:nvPr/>
        </p:nvSpPr>
        <p:spPr>
          <a:xfrm>
            <a:off x="640080" y="5120640"/>
            <a:ext cx="10908360" cy="1051200"/>
          </a:xfrm>
          <a:prstGeom prst="rect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7" name="Google Shape;576;p24"/>
          <p:cNvSpPr/>
          <p:nvPr/>
        </p:nvSpPr>
        <p:spPr>
          <a:xfrm>
            <a:off x="914400" y="5257800"/>
            <a:ext cx="103780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1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Success means the full system outperforms fault-blind MAPPO under unseen failures — safely and measurably.</a:t>
            </a:r>
            <a:endParaRPr lang="en-US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8" name="Google Shape;577;p24"/>
          <p:cNvSpPr/>
          <p:nvPr/>
        </p:nvSpPr>
        <p:spPr>
          <a:xfrm>
            <a:off x="11274480" y="6355080"/>
            <a:ext cx="639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E93B5"/>
                </a:solidFill>
                <a:effectLst/>
                <a:uFillTx/>
                <a:latin typeface="Calibri"/>
                <a:ea typeface="Calibri"/>
              </a:rPr>
              <a:t>22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583;p25"/>
          <p:cNvSpPr/>
          <p:nvPr/>
        </p:nvSpPr>
        <p:spPr>
          <a:xfrm>
            <a:off x="640080" y="457200"/>
            <a:ext cx="4571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REFERENCES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Google Shape;584;p25"/>
          <p:cNvSpPr/>
          <p:nvPr/>
        </p:nvSpPr>
        <p:spPr>
          <a:xfrm>
            <a:off x="594360" y="731520"/>
            <a:ext cx="7314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B2545"/>
                </a:solidFill>
                <a:effectLst/>
                <a:uFillTx/>
                <a:latin typeface="Cambria"/>
                <a:ea typeface="Cambria"/>
              </a:rPr>
              <a:t>Key sources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Google Shape;585;p25"/>
          <p:cNvSpPr/>
          <p:nvPr/>
        </p:nvSpPr>
        <p:spPr>
          <a:xfrm>
            <a:off x="640080" y="1508760"/>
            <a:ext cx="5394600" cy="49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15000"/>
              </a:lnSpc>
              <a:spcBef>
                <a:spcPts val="1199"/>
              </a:spcBef>
              <a:tabLst>
                <a:tab pos="0" algn="l"/>
              </a:tabLst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[1] B. Wang, C. Mao, K. Wei, X. Wu, and Y. Li, “A collaborative surface target detection and localization method for an unmanned surface vehicle swarm,” </a:t>
            </a:r>
            <a:r>
              <a:rPr lang="en-US" sz="900" b="0" i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Engineering Applications of Artificial Intelligence</a:t>
            </a: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, vol. 139, Art. no. 109679, 2025, doi: 10.1016/j.engappai.2024.109679. (</a:t>
            </a:r>
            <a:r>
              <a:rPr lang="en-US" sz="900" b="0" u="sng" strike="noStrike">
                <a:solidFill>
                  <a:schemeClr val="hlink"/>
                </a:solidFill>
                <a:effectLst/>
                <a:uFillTx/>
                <a:latin typeface="Arial"/>
                <a:ea typeface="Arial"/>
                <a:hlinkClick r:id="rId1"/>
              </a:rPr>
              <a:t>EurekaMag</a:t>
            </a: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tabLst>
                <a:tab pos="0" algn="l"/>
              </a:tabLst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[2] S. R. S. Shrudhi, S. Mohanty, and S. Elias, “Control and coordination of a SWARM of unmanned surface vehicles using deep reinforcement learning in ROS,” </a:t>
            </a:r>
            <a:r>
              <a:rPr lang="en-US" sz="900" b="0" i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arXiv preprint arXiv:2304.08189</a:t>
            </a: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, 2023. (</a:t>
            </a:r>
            <a:r>
              <a:rPr lang="en-US" sz="900" b="0" u="sng" strike="noStrike">
                <a:solidFill>
                  <a:schemeClr val="hlink"/>
                </a:solidFill>
                <a:effectLst/>
                <a:uFillTx/>
                <a:latin typeface="Arial"/>
                <a:ea typeface="Arial"/>
                <a:hlinkClick r:id="rId2"/>
              </a:rPr>
              <a:t>ResearchGate</a:t>
            </a: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tabLst>
                <a:tab pos="0" algn="l"/>
              </a:tabLst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[3] N. Hamid, W. Dharmawan, M. S. AbouOmar, H. Kurniawan, H. Saleh, and S. El Ferik, “Swarm unmanned surface vehicle encirclement task with multi-agent reinforcement learning,” </a:t>
            </a:r>
            <a:r>
              <a:rPr lang="en-US" sz="900" b="0" i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Transportation Research Procedia</a:t>
            </a: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, vol. 96, pp. 468–475, 2026, doi: 10.1016/j.trpro.2026.04.017. (</a:t>
            </a:r>
            <a:r>
              <a:rPr lang="en-US" sz="900" b="0" u="sng" strike="noStrike">
                <a:solidFill>
                  <a:schemeClr val="hlink"/>
                </a:solidFill>
                <a:effectLst/>
                <a:uFillTx/>
                <a:latin typeface="Arial"/>
                <a:ea typeface="Arial"/>
                <a:hlinkClick r:id="rId3"/>
              </a:rPr>
              <a:t>KFUPM</a:t>
            </a: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tabLst>
                <a:tab pos="0" algn="l"/>
              </a:tabLst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[4] B. Xiang, Z. Chen, X. Zhao, J. Tang, S. Rong, </a:t>
            </a:r>
            <a:r>
              <a:rPr lang="en-US" sz="900" b="0" i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et al</a:t>
            </a: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., “Multi-USV interception decision-making method based on deep reinforcement learning,” </a:t>
            </a:r>
            <a:r>
              <a:rPr lang="en-US" sz="900" b="0" i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Journal of King Saud University Computer and Information Sciences</a:t>
            </a: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, 2026, doi: 10.1007/s44443-026-00954-6. (</a:t>
            </a:r>
            <a:r>
              <a:rPr lang="en-US" sz="900" b="0" u="sng" strike="noStrike">
                <a:solidFill>
                  <a:schemeClr val="hlink"/>
                </a:solidFill>
                <a:effectLst/>
                <a:uFillTx/>
                <a:latin typeface="Arial"/>
                <a:ea typeface="Arial"/>
                <a:hlinkClick r:id="rId4"/>
              </a:rPr>
              <a:t>DOI</a:t>
            </a: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tabLst>
                <a:tab pos="0" algn="l"/>
              </a:tabLst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[5] S. Hegde, V. S. R. Kantheti, L. C. Chu, E. Blasch, </a:t>
            </a:r>
            <a:r>
              <a:rPr lang="en-US" sz="900" b="0" i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et al</a:t>
            </a: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., “Autonomous self-healing UAV swarms for robust 6G non-terrestrial networks,” </a:t>
            </a:r>
            <a:r>
              <a:rPr lang="en-US" sz="900" b="0" i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arXiv preprint arXiv:2601.13418</a:t>
            </a: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, 2026. (</a:t>
            </a:r>
            <a:r>
              <a:rPr lang="en-US" sz="900" b="0" u="sng" strike="noStrike">
                <a:solidFill>
                  <a:schemeClr val="hlink"/>
                </a:solidFill>
                <a:effectLst/>
                <a:uFillTx/>
                <a:latin typeface="Arial"/>
                <a:ea typeface="Arial"/>
                <a:hlinkClick r:id="rId5"/>
              </a:rPr>
              <a:t>ResearchGate</a:t>
            </a: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tabLst>
                <a:tab pos="0" algn="l"/>
              </a:tabLst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[6] W.-L. Luo, Y.-Y. Xu, X. Cheng, F.-Z. Wang, </a:t>
            </a:r>
            <a:r>
              <a:rPr lang="en-US" sz="900" b="0" i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et al</a:t>
            </a: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., “From self-healing to smart-healing: A self-diagnosing and self-healing system based on artificial intelligence,” </a:t>
            </a:r>
            <a:r>
              <a:rPr lang="en-US" sz="900" b="0" i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Advanced Materials</a:t>
            </a: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, vol. 38, no. 4, Art. no. e13641, 2026, doi: 10.1002/adma.202513641. (</a:t>
            </a:r>
            <a:r>
              <a:rPr lang="en-US" sz="900" b="0" u="sng" strike="noStrike">
                <a:solidFill>
                  <a:schemeClr val="hlink"/>
                </a:solidFill>
                <a:effectLst/>
                <a:uFillTx/>
                <a:latin typeface="Arial"/>
                <a:ea typeface="Arial"/>
                <a:hlinkClick r:id="rId6"/>
              </a:rPr>
              <a:t>Wiley Online Library</a:t>
            </a: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tabLst>
                <a:tab pos="0" algn="l"/>
              </a:tabLst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[7] Y. Emami, R. Taheri, M. Homaei, M. A. Ur Rehman, and M. Shojafar, “LLM-centric agentic AI for UAV swarms: Architecture, enabling technologies, and open problems,” </a:t>
            </a:r>
            <a:r>
              <a:rPr lang="en-US" sz="900" b="0" i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arXiv preprint arXiv:2607.09756</a:t>
            </a: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, 2026. (</a:t>
            </a:r>
            <a:r>
              <a:rPr lang="en-US" sz="900" b="0" u="sng" strike="noStrike">
                <a:solidFill>
                  <a:schemeClr val="hlink"/>
                </a:solidFill>
                <a:effectLst/>
                <a:uFillTx/>
                <a:latin typeface="Arial"/>
                <a:ea typeface="Arial"/>
                <a:hlinkClick r:id="rId7"/>
              </a:rPr>
              <a:t>SciRate</a:t>
            </a: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tabLst>
                <a:tab pos="0" algn="l"/>
              </a:tabLst>
            </a:pP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42000"/>
              </a:lnSpc>
              <a:spcBef>
                <a:spcPts val="1199"/>
              </a:spcBef>
              <a:tabLst>
                <a:tab pos="0" algn="l"/>
              </a:tabLst>
            </a:pP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Google Shape;586;p25"/>
          <p:cNvSpPr/>
          <p:nvPr/>
        </p:nvSpPr>
        <p:spPr>
          <a:xfrm>
            <a:off x="6172200" y="1508760"/>
            <a:ext cx="5394600" cy="49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15000"/>
              </a:lnSpc>
              <a:spcBef>
                <a:spcPts val="1199"/>
              </a:spcBef>
              <a:tabLst>
                <a:tab pos="0" algn="l"/>
              </a:tabLst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[8] Open Source Robotics Foundation, “Virtual RobotX (VRX) simulation environment,” GitHub repository and documentation, 2026. [Online]. Available: . (</a:t>
            </a:r>
            <a:r>
              <a:rPr lang="en-US" sz="900" b="0" u="sng" strike="noStrike">
                <a:solidFill>
                  <a:schemeClr val="hlink"/>
                </a:solidFill>
                <a:effectLst/>
                <a:uFillTx/>
                <a:latin typeface="Arial"/>
                <a:ea typeface="Arial"/>
                <a:hlinkClick r:id="rId8"/>
              </a:rPr>
              <a:t>Docker Hub</a:t>
            </a: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tabLst>
                <a:tab pos="0" algn="l"/>
              </a:tabLst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[9] S. Gu, M. Geng, and L. Lan, “Attention-based fault-tolerant approach for multi-agent reinforcement learning systems,” </a:t>
            </a:r>
            <a:r>
              <a:rPr lang="en-US" sz="900" b="0" i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Entropy</a:t>
            </a: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, vol. 23, no. 9, Art. no. 1133, 2021, doi: 10.3390/e23091133. (</a:t>
            </a:r>
            <a:r>
              <a:rPr lang="en-US" sz="900" b="0" u="sng" strike="noStrike">
                <a:solidFill>
                  <a:schemeClr val="hlink"/>
                </a:solidFill>
                <a:effectLst/>
                <a:uFillTx/>
                <a:latin typeface="Arial"/>
                <a:ea typeface="Arial"/>
                <a:hlinkClick r:id="rId9"/>
              </a:rPr>
              <a:t>PubMed</a:t>
            </a: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tabLst>
                <a:tab pos="0" algn="l"/>
              </a:tabLst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[10] M. Ramezani, M. A. Amiri Atashgah, and A. Rezaee, “A fault-tolerant multi-agent reinforcement learning framework for unmanned aerial vehicles–unmanned ground vehicle coverage path planning,” </a:t>
            </a:r>
            <a:r>
              <a:rPr lang="en-US" sz="900" b="0" i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Drones</a:t>
            </a: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, vol. 8, no. 10, Art. no. 537, 2024, doi: 10.3390/drones8100537. (</a:t>
            </a:r>
            <a:r>
              <a:rPr lang="en-US" sz="900" b="0" u="sng" strike="noStrike">
                <a:solidFill>
                  <a:schemeClr val="hlink"/>
                </a:solidFill>
                <a:effectLst/>
                <a:uFillTx/>
                <a:latin typeface="Arial"/>
                <a:ea typeface="Arial"/>
                <a:hlinkClick r:id="rId10"/>
              </a:rPr>
              <a:t>MDPI</a:t>
            </a: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tabLst>
                <a:tab pos="0" algn="l"/>
              </a:tabLst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[11] C. C. Ekechi, T. Elfouly, A. Alouani, and T. Khattab, “A survey on UAV control with multi-agent reinforcement learning,” </a:t>
            </a:r>
            <a:r>
              <a:rPr lang="en-US" sz="900" b="0" i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Drones</a:t>
            </a: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, vol. 9, no. 7, Art. no. 484, 2025, doi: 10.3390/drones9070484. (</a:t>
            </a:r>
            <a:r>
              <a:rPr lang="en-US" sz="900" b="0" u="sng" strike="noStrike">
                <a:solidFill>
                  <a:schemeClr val="hlink"/>
                </a:solidFill>
                <a:effectLst/>
                <a:uFillTx/>
                <a:latin typeface="Arial"/>
                <a:ea typeface="Arial"/>
                <a:hlinkClick r:id="rId11"/>
              </a:rPr>
              <a:t>MDPI</a:t>
            </a: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tabLst>
                <a:tab pos="0" algn="l"/>
              </a:tabLst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[12] Y. Shi, H. Pei, L. Feng, Y. Zhang, and D. Yao, “Towards fault tolerance in multi-agent reinforcement learning,” </a:t>
            </a:r>
            <a:r>
              <a:rPr lang="en-US" sz="900" b="0" i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arXiv preprint arXiv:2412.00534</a:t>
            </a: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, 2024. (</a:t>
            </a:r>
            <a:r>
              <a:rPr lang="en-US" sz="900" b="0" u="sng" strike="noStrike">
                <a:solidFill>
                  <a:schemeClr val="hlink"/>
                </a:solidFill>
                <a:effectLst/>
                <a:uFillTx/>
                <a:latin typeface="Arial"/>
                <a:ea typeface="Arial"/>
                <a:hlinkClick r:id="rId12"/>
              </a:rPr>
              <a:t>arXiv</a:t>
            </a: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tabLst>
                <a:tab pos="0" algn="l"/>
              </a:tabLst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[13] H. Kim, K. Lee, J. Park, J. Li, and J. Park, “Human implicit preference-based policy fine-tuning for multi-agent reinforcement learning in USV swarm,” in </a:t>
            </a:r>
            <a:r>
              <a:rPr lang="en-US" sz="900" b="0" i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Proc. IEEE/RSJ Int. Conf. Intell. Robots Syst. (IROS)</a:t>
            </a: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, 2025, pp. 18653–18659, doi: 10.1109/IROS60139.2025.11246039. (</a:t>
            </a:r>
            <a:r>
              <a:rPr lang="en-US" sz="900" b="0" u="sng" strike="noStrike">
                <a:solidFill>
                  <a:schemeClr val="hlink"/>
                </a:solidFill>
                <a:effectLst/>
                <a:uFillTx/>
                <a:latin typeface="Arial"/>
                <a:ea typeface="Arial"/>
                <a:hlinkClick r:id="rId13"/>
              </a:rPr>
              <a:t>KAIST</a:t>
            </a: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tabLst>
                <a:tab pos="0" algn="l"/>
              </a:tabLst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[14] E. K. Raptis, A. C. Kapoutsis, and E. B. Kosmatopoulos, “Agentic LLM-based robotic systems for real-world applications: A review on their agenticness and ethics,” </a:t>
            </a:r>
            <a:r>
              <a:rPr lang="en-US" sz="900" b="0" i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Frontiers in Robotics and AI</a:t>
            </a: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, vol. 12, Art. no. 1605405, 2025, doi: 10.3389/frobt.2025.1605405. (</a:t>
            </a:r>
            <a:r>
              <a:rPr lang="en-US" sz="900" b="0" u="sng" strike="noStrike">
                <a:solidFill>
                  <a:schemeClr val="hlink"/>
                </a:solidFill>
                <a:effectLst/>
                <a:uFillTx/>
                <a:latin typeface="Arial"/>
                <a:ea typeface="Arial"/>
                <a:hlinkClick r:id="rId14"/>
              </a:rPr>
              <a:t>Frontiers</a:t>
            </a: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tabLst>
                <a:tab pos="0" algn="l"/>
              </a:tabLst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[15] H. K. Alkahtani, G. Ybytayeva, A. Bekarystankyzy, </a:t>
            </a:r>
            <a:r>
              <a:rPr lang="en-US" sz="900" b="0" i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et al</a:t>
            </a: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., “Explainable multi agent reinforcement learning framework for secure and adaptive communication in UAV swarm based FANETs,” </a:t>
            </a:r>
            <a:r>
              <a:rPr lang="en-US" sz="900" b="0" i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Scientific Reports</a:t>
            </a: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, vol. 16, Art. no. 11830, 2026, doi: 10.1038/s41598-026-39366-x. (</a:t>
            </a:r>
            <a:r>
              <a:rPr lang="en-US" sz="900" b="0" u="sng" strike="noStrike">
                <a:solidFill>
                  <a:schemeClr val="hlink"/>
                </a:solidFill>
                <a:effectLst/>
                <a:uFillTx/>
                <a:latin typeface="Arial"/>
                <a:ea typeface="Arial"/>
                <a:hlinkClick r:id="rId15"/>
              </a:rPr>
              <a:t>Nature</a:t>
            </a: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Bef>
                <a:spcPts val="1400"/>
              </a:spcBef>
              <a:tabLst>
                <a:tab pos="0" algn="l"/>
              </a:tabLst>
            </a:pP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42000"/>
              </a:lnSpc>
              <a:spcBef>
                <a:spcPts val="400"/>
              </a:spcBef>
              <a:tabLst>
                <a:tab pos="0" algn="l"/>
              </a:tabLst>
            </a:pP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Google Shape;587;p25"/>
          <p:cNvSpPr/>
          <p:nvPr/>
        </p:nvSpPr>
        <p:spPr>
          <a:xfrm>
            <a:off x="11274480" y="6355080"/>
            <a:ext cx="639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C7A99"/>
                </a:solidFill>
                <a:effectLst/>
                <a:uFillTx/>
                <a:latin typeface="Calibri"/>
                <a:ea typeface="Calibri"/>
              </a:rPr>
              <a:t>23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593;p26"/>
          <p:cNvSpPr/>
          <p:nvPr/>
        </p:nvSpPr>
        <p:spPr>
          <a:xfrm>
            <a:off x="640080" y="457200"/>
            <a:ext cx="4571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Appendix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Google Shape;594;p26"/>
          <p:cNvSpPr/>
          <p:nvPr/>
        </p:nvSpPr>
        <p:spPr>
          <a:xfrm>
            <a:off x="594360" y="731520"/>
            <a:ext cx="7314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B2545"/>
                </a:solidFill>
                <a:effectLst/>
                <a:uFillTx/>
                <a:latin typeface="Cambria"/>
                <a:ea typeface="Cambria"/>
              </a:rPr>
              <a:t>Flow Diagram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76" name="Google Shape;595;p26"/>
          <p:cNvPicPr/>
          <p:nvPr/>
        </p:nvPicPr>
        <p:blipFill>
          <a:blip r:embed="rId1"/>
          <a:stretch/>
        </p:blipFill>
        <p:spPr>
          <a:xfrm>
            <a:off x="3647160" y="1280160"/>
            <a:ext cx="4897080" cy="527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7" name="Google Shape;596;p26"/>
          <p:cNvSpPr/>
          <p:nvPr/>
        </p:nvSpPr>
        <p:spPr>
          <a:xfrm>
            <a:off x="11299320" y="6355080"/>
            <a:ext cx="639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C7A99"/>
                </a:solidFill>
                <a:effectLst/>
                <a:uFillTx/>
                <a:latin typeface="Calibri"/>
                <a:ea typeface="Calibri"/>
              </a:rPr>
              <a:t>24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602;p27"/>
          <p:cNvSpPr/>
          <p:nvPr/>
        </p:nvSpPr>
        <p:spPr>
          <a:xfrm>
            <a:off x="640080" y="1508760"/>
            <a:ext cx="5394600" cy="49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15000"/>
              </a:lnSpc>
              <a:spcBef>
                <a:spcPts val="1800"/>
              </a:spcBef>
              <a:tabLst>
                <a:tab pos="0" algn="l"/>
              </a:tabLst>
            </a:pPr>
            <a:r>
              <a:rPr lang="en-US" sz="15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1. MADDPG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8584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Lowe et al. — </a:t>
            </a:r>
            <a:r>
              <a:rPr lang="en-US" sz="900" b="0" i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Multi-Agent Actor-Critic for Mixed Cooperative-Competitive Environments</a:t>
            </a:r>
            <a:br>
              <a:rPr sz="900"/>
            </a:br>
            <a:r>
              <a:rPr lang="en-US" sz="900" b="0" u="sng" strike="noStrike">
                <a:solidFill>
                  <a:schemeClr val="hlink"/>
                </a:solidFill>
                <a:effectLst/>
                <a:uFillTx/>
                <a:latin typeface="Arial"/>
                <a:ea typeface="Arial"/>
                <a:hlinkClick r:id="rId1"/>
              </a:rPr>
              <a:t>https://arxiv.org/abs/1706.02275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858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OpenAI MADDPG:</a:t>
            </a:r>
            <a:r>
              <a:rPr lang="en-US" sz="900" b="0" u="sng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  <a:hlinkClick r:id="rId2"/>
              </a:rPr>
              <a:t> </a:t>
            </a:r>
            <a:r>
              <a:rPr lang="en-US" sz="900" b="0" u="sng" strike="noStrike">
                <a:solidFill>
                  <a:schemeClr val="hlink"/>
                </a:solidFill>
                <a:effectLst/>
                <a:uFillTx/>
                <a:latin typeface="Arial"/>
                <a:ea typeface="Arial"/>
                <a:hlinkClick r:id="rId3"/>
              </a:rPr>
              <a:t>https://github.com/openai/maddpg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Bef>
                <a:spcPts val="1800"/>
              </a:spcBef>
              <a:tabLst>
                <a:tab pos="0" algn="l"/>
              </a:tabLst>
            </a:pPr>
            <a:r>
              <a:rPr lang="en-US" sz="15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2. MAPPO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8584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Yu et al. — </a:t>
            </a:r>
            <a:r>
              <a:rPr lang="en-US" sz="900" b="0" i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The Surprising Effectiveness of PPO in Cooperative Multi-Agent Games</a:t>
            </a:r>
            <a:br>
              <a:rPr sz="900"/>
            </a:br>
            <a:r>
              <a:rPr lang="en-US" sz="900" b="0" u="sng" strike="noStrike">
                <a:solidFill>
                  <a:schemeClr val="hlink"/>
                </a:solidFill>
                <a:effectLst/>
                <a:uFillTx/>
                <a:latin typeface="Arial"/>
                <a:ea typeface="Arial"/>
                <a:hlinkClick r:id="rId4"/>
              </a:rPr>
              <a:t>https://arxiv.org/abs/2103.01955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858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MAPPO:</a:t>
            </a:r>
            <a:r>
              <a:rPr lang="en-US" sz="900" b="0" u="sng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  <a:hlinkClick r:id="rId5"/>
              </a:rPr>
              <a:t> </a:t>
            </a:r>
            <a:r>
              <a:rPr lang="en-US" sz="900" b="0" u="sng" strike="noStrike">
                <a:solidFill>
                  <a:schemeClr val="hlink"/>
                </a:solidFill>
                <a:effectLst/>
                <a:uFillTx/>
                <a:latin typeface="Arial"/>
                <a:ea typeface="Arial"/>
                <a:hlinkClick r:id="rId6"/>
              </a:rPr>
              <a:t>https://github.com/marlbenchmark/on-policy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Bef>
                <a:spcPts val="1800"/>
              </a:spcBef>
              <a:tabLst>
                <a:tab pos="0" algn="l"/>
              </a:tabLst>
            </a:pPr>
            <a:r>
              <a:rPr lang="en-US" sz="15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3. USV / Marine MARL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8584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USV swarm control using DRL:</a:t>
            </a:r>
            <a:r>
              <a:rPr lang="en-US" sz="900" b="0" u="sng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  <a:hlinkClick r:id="rId7"/>
              </a:rPr>
              <a:t> </a:t>
            </a:r>
            <a:r>
              <a:rPr lang="en-US" sz="900" b="0" u="sng" strike="noStrike">
                <a:solidFill>
                  <a:schemeClr val="hlink"/>
                </a:solidFill>
                <a:effectLst/>
                <a:uFillTx/>
                <a:latin typeface="Arial"/>
                <a:ea typeface="Arial"/>
                <a:hlinkClick r:id="rId8"/>
              </a:rPr>
              <a:t>https://arxiv.org/abs/2304.08189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858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USV swarm encirclement with MARL:</a:t>
            </a:r>
            <a:r>
              <a:rPr lang="en-US" sz="900" b="0" u="sng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  <a:hlinkClick r:id="rId9"/>
              </a:rPr>
              <a:t> </a:t>
            </a:r>
            <a:r>
              <a:rPr lang="en-US" sz="900" b="0" u="sng" strike="noStrike">
                <a:solidFill>
                  <a:schemeClr val="hlink"/>
                </a:solidFill>
                <a:effectLst/>
                <a:uFillTx/>
                <a:latin typeface="Arial"/>
                <a:ea typeface="Arial"/>
                <a:hlinkClick r:id="rId10"/>
              </a:rPr>
              <a:t>https://doi.org/10.1016/j.trpro.2026.04.017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858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Multi-USV interception with DRL:</a:t>
            </a:r>
            <a:r>
              <a:rPr lang="en-US" sz="900" b="0" u="sng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  <a:hlinkClick r:id="rId11"/>
              </a:rPr>
              <a:t> </a:t>
            </a:r>
            <a:r>
              <a:rPr lang="en-US" sz="900" b="0" u="sng" strike="noStrike">
                <a:solidFill>
                  <a:schemeClr val="hlink"/>
                </a:solidFill>
                <a:effectLst/>
                <a:uFillTx/>
                <a:latin typeface="Arial"/>
                <a:ea typeface="Arial"/>
                <a:hlinkClick r:id="rId12"/>
              </a:rPr>
              <a:t>https://doi.org/10.1007/s44443-026-00954-6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858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Human preference-based MARL for USV swarm:</a:t>
            </a:r>
            <a:r>
              <a:rPr lang="en-US" sz="900" b="0" u="sng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  <a:hlinkClick r:id="rId13"/>
              </a:rPr>
              <a:t> </a:t>
            </a:r>
            <a:r>
              <a:rPr lang="en-US" sz="900" b="0" u="sng" strike="noStrike">
                <a:solidFill>
                  <a:schemeClr val="hlink"/>
                </a:solidFill>
                <a:effectLst/>
                <a:uFillTx/>
                <a:latin typeface="Arial"/>
                <a:ea typeface="Arial"/>
                <a:hlinkClick r:id="rId14"/>
              </a:rPr>
              <a:t>https://arxiv.org/abs/2503.03796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Bef>
                <a:spcPts val="1800"/>
              </a:spcBef>
              <a:tabLst>
                <a:tab pos="0" algn="l"/>
              </a:tabLst>
            </a:pPr>
            <a:r>
              <a:rPr lang="en-US" sz="15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4. Fault-Tolerant MARL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8584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900" b="0" i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Towards Fault Tolerance in MARL</a:t>
            </a: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:</a:t>
            </a:r>
            <a:r>
              <a:rPr lang="en-US" sz="900" b="0" u="sng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  <a:hlinkClick r:id="rId15"/>
              </a:rPr>
              <a:t> </a:t>
            </a:r>
            <a:r>
              <a:rPr lang="en-US" sz="900" b="0" u="sng" strike="noStrike">
                <a:solidFill>
                  <a:schemeClr val="hlink"/>
                </a:solidFill>
                <a:effectLst/>
                <a:uFillTx/>
                <a:latin typeface="Arial"/>
                <a:ea typeface="Arial"/>
                <a:hlinkClick r:id="rId16"/>
              </a:rPr>
              <a:t>https://arxiv.org/abs/2412.00534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858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Attention-based fault-tolerant MARL:</a:t>
            </a:r>
            <a:r>
              <a:rPr lang="en-US" sz="900" b="0" u="sng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  <a:hlinkClick r:id="rId17"/>
              </a:rPr>
              <a:t> </a:t>
            </a:r>
            <a:r>
              <a:rPr lang="en-US" sz="900" b="0" u="sng" strike="noStrike">
                <a:solidFill>
                  <a:schemeClr val="hlink"/>
                </a:solidFill>
                <a:effectLst/>
                <a:uFillTx/>
                <a:latin typeface="Arial"/>
                <a:ea typeface="Arial"/>
                <a:hlinkClick r:id="rId18"/>
              </a:rPr>
              <a:t>https://doi.org/10.3390/e23091133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858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Fault-tolerant UAV–UGV MARL:</a:t>
            </a:r>
            <a:r>
              <a:rPr lang="en-US" sz="900" b="0" u="sng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  <a:hlinkClick r:id="rId19"/>
              </a:rPr>
              <a:t> </a:t>
            </a:r>
            <a:r>
              <a:rPr lang="en-US" sz="900" b="0" u="sng" strike="noStrike">
                <a:solidFill>
                  <a:schemeClr val="hlink"/>
                </a:solidFill>
                <a:effectLst/>
                <a:uFillTx/>
                <a:latin typeface="Arial"/>
                <a:ea typeface="Arial"/>
                <a:hlinkClick r:id="rId20"/>
              </a:rPr>
              <a:t>https://doi.org/10.3390/drones8100537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858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Self-healing UAV networks:</a:t>
            </a:r>
            <a:r>
              <a:rPr lang="en-US" sz="900" b="0" u="sng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  <a:hlinkClick r:id="rId21"/>
              </a:rPr>
              <a:t> </a:t>
            </a:r>
            <a:r>
              <a:rPr lang="en-US" sz="900" b="0" u="sng" strike="noStrike">
                <a:solidFill>
                  <a:schemeClr val="hlink"/>
                </a:solidFill>
                <a:effectLst/>
                <a:uFillTx/>
                <a:latin typeface="Arial"/>
                <a:ea typeface="Arial"/>
                <a:hlinkClick r:id="rId22"/>
              </a:rPr>
              <a:t>https://arxiv.org/abs/2601.13418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858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Explainable MARL for UAV swarm:</a:t>
            </a:r>
            <a:r>
              <a:rPr lang="en-US" sz="900" b="0" u="sng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  <a:hlinkClick r:id="rId23"/>
              </a:rPr>
              <a:t> </a:t>
            </a:r>
            <a:r>
              <a:rPr lang="en-US" sz="900" b="0" u="sng" strike="noStrike">
                <a:solidFill>
                  <a:schemeClr val="hlink"/>
                </a:solidFill>
                <a:effectLst/>
                <a:uFillTx/>
                <a:latin typeface="Arial"/>
                <a:ea typeface="Arial"/>
                <a:hlinkClick r:id="rId24"/>
              </a:rPr>
              <a:t>https://doi.org/10.1038/s41598-026-39366-x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Google Shape;603;p27"/>
          <p:cNvSpPr/>
          <p:nvPr/>
        </p:nvSpPr>
        <p:spPr>
          <a:xfrm>
            <a:off x="640080" y="457200"/>
            <a:ext cx="4571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Appendix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Google Shape;604;p27"/>
          <p:cNvSpPr/>
          <p:nvPr/>
        </p:nvSpPr>
        <p:spPr>
          <a:xfrm>
            <a:off x="594360" y="731520"/>
            <a:ext cx="7314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B2545"/>
                </a:solidFill>
                <a:effectLst/>
                <a:uFillTx/>
                <a:latin typeface="Cambria"/>
                <a:ea typeface="Cambria"/>
              </a:rPr>
              <a:t>Data Sources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Google Shape;605;p27"/>
          <p:cNvSpPr/>
          <p:nvPr/>
        </p:nvSpPr>
        <p:spPr>
          <a:xfrm>
            <a:off x="6776280" y="1288080"/>
            <a:ext cx="4852800" cy="536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15000"/>
              </a:lnSpc>
              <a:spcBef>
                <a:spcPts val="1800"/>
              </a:spcBef>
              <a:tabLst>
                <a:tab pos="0" algn="l"/>
              </a:tabLst>
            </a:pPr>
            <a:r>
              <a:rPr lang="en-US" sz="15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5. Agentic / Self-Healing AI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8584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Agentic AI for UAV swarms:</a:t>
            </a:r>
            <a:r>
              <a:rPr lang="en-US" sz="900" b="0" u="sng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  <a:hlinkClick r:id="rId25"/>
              </a:rPr>
              <a:t> </a:t>
            </a:r>
            <a:r>
              <a:rPr lang="en-US" sz="900" b="0" u="sng" strike="noStrike">
                <a:solidFill>
                  <a:schemeClr val="hlink"/>
                </a:solidFill>
                <a:effectLst/>
                <a:uFillTx/>
                <a:latin typeface="Arial"/>
                <a:ea typeface="Arial"/>
                <a:hlinkClick r:id="rId26"/>
              </a:rPr>
              <a:t>https://arxiv.org/abs/2607.09756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858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Agentic LLM-based robotic systems:</a:t>
            </a:r>
            <a:r>
              <a:rPr lang="en-US" sz="900" b="0" u="sng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  <a:hlinkClick r:id="rId27"/>
              </a:rPr>
              <a:t> </a:t>
            </a:r>
            <a:r>
              <a:rPr lang="en-US" sz="900" b="0" u="sng" strike="noStrike">
                <a:solidFill>
                  <a:schemeClr val="hlink"/>
                </a:solidFill>
                <a:effectLst/>
                <a:uFillTx/>
                <a:latin typeface="Arial"/>
                <a:ea typeface="Arial"/>
                <a:hlinkClick r:id="rId28"/>
              </a:rPr>
              <a:t>https://doi.org/10.3389/frobt.2025.1605405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858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AI diagnose–heal–verify:</a:t>
            </a:r>
            <a:r>
              <a:rPr lang="en-US" sz="900" b="0" u="sng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  <a:hlinkClick r:id="rId29"/>
              </a:rPr>
              <a:t> </a:t>
            </a:r>
            <a:r>
              <a:rPr lang="en-US" sz="900" b="0" u="sng" strike="noStrike">
                <a:solidFill>
                  <a:schemeClr val="hlink"/>
                </a:solidFill>
                <a:effectLst/>
                <a:uFillTx/>
                <a:latin typeface="Arial"/>
                <a:ea typeface="Arial"/>
                <a:hlinkClick r:id="rId30"/>
              </a:rPr>
              <a:t>https://doi.org/10.1002/adma.202513641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Bef>
                <a:spcPts val="1800"/>
              </a:spcBef>
              <a:tabLst>
                <a:tab pos="0" algn="l"/>
              </a:tabLst>
            </a:pPr>
            <a:r>
              <a:rPr lang="en-US" sz="15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6. Marine Perception Datasets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8584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USVTrack:</a:t>
            </a:r>
            <a:r>
              <a:rPr lang="en-US" sz="900" b="0" u="sng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  <a:hlinkClick r:id="rId31"/>
              </a:rPr>
              <a:t> </a:t>
            </a:r>
            <a:r>
              <a:rPr lang="en-US" sz="900" b="0" u="sng" strike="noStrike">
                <a:solidFill>
                  <a:schemeClr val="hlink"/>
                </a:solidFill>
                <a:effectLst/>
                <a:uFillTx/>
                <a:latin typeface="Arial"/>
                <a:ea typeface="Arial"/>
                <a:hlinkClick r:id="rId32"/>
              </a:rPr>
              <a:t>https://github.com/usvtrack/usvtrack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858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USVTrack MOT:</a:t>
            </a:r>
            <a:r>
              <a:rPr lang="en-US" sz="900" b="0" u="sng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  <a:hlinkClick r:id="rId33"/>
              </a:rPr>
              <a:t> </a:t>
            </a:r>
            <a:r>
              <a:rPr lang="en-US" sz="900" b="0" u="sng" strike="noStrike">
                <a:solidFill>
                  <a:schemeClr val="hlink"/>
                </a:solidFill>
                <a:effectLst/>
                <a:uFillTx/>
                <a:latin typeface="Arial"/>
                <a:ea typeface="Arial"/>
                <a:hlinkClick r:id="rId34"/>
              </a:rPr>
              <a:t>https://github.com/SnowPye/USVTrack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858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WaterScenes:</a:t>
            </a:r>
            <a:r>
              <a:rPr lang="en-US" sz="900" b="0" u="sng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  <a:hlinkClick r:id="rId35"/>
              </a:rPr>
              <a:t> </a:t>
            </a:r>
            <a:r>
              <a:rPr lang="en-US" sz="900" b="0" u="sng" strike="noStrike">
                <a:solidFill>
                  <a:schemeClr val="hlink"/>
                </a:solidFill>
                <a:effectLst/>
                <a:uFillTx/>
                <a:latin typeface="Arial"/>
                <a:ea typeface="Arial"/>
                <a:hlinkClick r:id="rId36"/>
              </a:rPr>
              <a:t>https://github.com/WaterScenes/WaterScenes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858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MODD:</a:t>
            </a:r>
            <a:r>
              <a:rPr lang="en-US" sz="900" b="0" u="sng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  <a:hlinkClick r:id="rId37"/>
              </a:rPr>
              <a:t> </a:t>
            </a:r>
            <a:r>
              <a:rPr lang="en-US" sz="900" b="0" u="sng" strike="noStrike">
                <a:solidFill>
                  <a:schemeClr val="hlink"/>
                </a:solidFill>
                <a:effectLst/>
                <a:uFillTx/>
                <a:latin typeface="Arial"/>
                <a:ea typeface="Arial"/>
                <a:hlinkClick r:id="rId38"/>
              </a:rPr>
              <a:t>https://vision.fe.uni-lj.si/RESEARCH/modd/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858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SeaDronesSee:</a:t>
            </a:r>
            <a:r>
              <a:rPr lang="en-US" sz="900" b="0" u="sng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  <a:hlinkClick r:id="rId39"/>
              </a:rPr>
              <a:t> </a:t>
            </a:r>
            <a:r>
              <a:rPr lang="en-US" sz="900" b="0" u="sng" strike="noStrike">
                <a:solidFill>
                  <a:schemeClr val="hlink"/>
                </a:solidFill>
                <a:effectLst/>
                <a:uFillTx/>
                <a:latin typeface="Arial"/>
                <a:ea typeface="Arial"/>
                <a:hlinkClick r:id="rId40"/>
              </a:rPr>
              <a:t>https://github.com/Ben93kie/SeaDronesSee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Bef>
                <a:spcPts val="1800"/>
              </a:spcBef>
              <a:tabLst>
                <a:tab pos="0" algn="l"/>
              </a:tabLst>
            </a:pPr>
            <a:r>
              <a:rPr lang="en-US" sz="15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7. Marine Environment / Trajectory Data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8584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NOAA AIS:</a:t>
            </a:r>
            <a:r>
              <a:rPr lang="en-US" sz="900" b="0" u="sng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  <a:hlinkClick r:id="rId41"/>
              </a:rPr>
              <a:t> </a:t>
            </a:r>
            <a:r>
              <a:rPr lang="en-US" sz="900" b="0" u="sng" strike="noStrike">
                <a:solidFill>
                  <a:schemeClr val="hlink"/>
                </a:solidFill>
                <a:effectLst/>
                <a:uFillTx/>
                <a:latin typeface="Arial"/>
                <a:ea typeface="Arial"/>
                <a:hlinkClick r:id="rId42"/>
              </a:rPr>
              <a:t>https://marinecadastre.gov/ais/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858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NOAA Buoy Data:</a:t>
            </a:r>
            <a:r>
              <a:rPr lang="en-US" sz="900" b="0" u="sng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  <a:hlinkClick r:id="rId43"/>
              </a:rPr>
              <a:t> </a:t>
            </a:r>
            <a:r>
              <a:rPr lang="en-US" sz="900" b="0" u="sng" strike="noStrike">
                <a:solidFill>
                  <a:schemeClr val="hlink"/>
                </a:solidFill>
                <a:effectLst/>
                <a:uFillTx/>
                <a:latin typeface="Arial"/>
                <a:ea typeface="Arial"/>
                <a:hlinkClick r:id="rId44"/>
              </a:rPr>
              <a:t>https://www.ndbc.noaa.gov/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858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Copernicus Marine:</a:t>
            </a:r>
            <a:r>
              <a:rPr lang="en-US" sz="900" b="0" u="sng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  <a:hlinkClick r:id="rId45"/>
              </a:rPr>
              <a:t> </a:t>
            </a:r>
            <a:r>
              <a:rPr lang="en-US" sz="900" b="0" u="sng" strike="noStrike">
                <a:solidFill>
                  <a:schemeClr val="hlink"/>
                </a:solidFill>
                <a:effectLst/>
                <a:uFillTx/>
                <a:latin typeface="Arial"/>
                <a:ea typeface="Arial"/>
                <a:hlinkClick r:id="rId46"/>
              </a:rPr>
              <a:t>https://data.marine.copernicus.eu/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858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GEBCO:</a:t>
            </a:r>
            <a:r>
              <a:rPr lang="en-US" sz="900" b="0" u="sng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  <a:hlinkClick r:id="rId47"/>
              </a:rPr>
              <a:t> </a:t>
            </a:r>
            <a:r>
              <a:rPr lang="en-US" sz="900" b="0" u="sng" strike="noStrike">
                <a:solidFill>
                  <a:schemeClr val="hlink"/>
                </a:solidFill>
                <a:effectLst/>
                <a:uFillTx/>
                <a:latin typeface="Arial"/>
                <a:ea typeface="Arial"/>
                <a:hlinkClick r:id="rId48"/>
              </a:rPr>
              <a:t>https://www.gebco.net/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858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EMODnet Bathymetry:</a:t>
            </a:r>
            <a:r>
              <a:rPr lang="en-US" sz="900" b="0" u="sng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  <a:hlinkClick r:id="rId49"/>
              </a:rPr>
              <a:t> </a:t>
            </a:r>
            <a:r>
              <a:rPr lang="en-US" sz="900" b="0" u="sng" strike="noStrike">
                <a:solidFill>
                  <a:schemeClr val="hlink"/>
                </a:solidFill>
                <a:effectLst/>
                <a:uFillTx/>
                <a:latin typeface="Arial"/>
                <a:ea typeface="Arial"/>
                <a:hlinkClick r:id="rId50"/>
              </a:rPr>
              <a:t>https://emodnet.ec.europa.eu/en/bathymetry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Bef>
                <a:spcPts val="1800"/>
              </a:spcBef>
              <a:tabLst>
                <a:tab pos="0" algn="l"/>
              </a:tabLst>
            </a:pPr>
            <a:r>
              <a:rPr lang="en-US" sz="15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8. Simulation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8584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VRX:</a:t>
            </a:r>
            <a:r>
              <a:rPr lang="en-US" sz="900" b="0" u="sng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  <a:hlinkClick r:id="rId51"/>
              </a:rPr>
              <a:t> </a:t>
            </a:r>
            <a:r>
              <a:rPr lang="en-US" sz="900" b="0" u="sng" strike="noStrike">
                <a:solidFill>
                  <a:schemeClr val="hlink"/>
                </a:solidFill>
                <a:effectLst/>
                <a:uFillTx/>
                <a:latin typeface="Arial"/>
                <a:ea typeface="Arial"/>
                <a:hlinkClick r:id="rId52"/>
              </a:rPr>
              <a:t>https://github.com/osrf/vrx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858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VRX Wiki:</a:t>
            </a:r>
            <a:r>
              <a:rPr lang="en-US" sz="900" b="0" u="sng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  <a:hlinkClick r:id="rId53"/>
              </a:rPr>
              <a:t> </a:t>
            </a:r>
            <a:r>
              <a:rPr lang="en-US" sz="900" b="0" u="sng" strike="noStrike">
                <a:solidFill>
                  <a:schemeClr val="hlink"/>
                </a:solidFill>
                <a:effectLst/>
                <a:uFillTx/>
                <a:latin typeface="Arial"/>
                <a:ea typeface="Arial"/>
                <a:hlinkClick r:id="rId54"/>
              </a:rPr>
              <a:t>https://github.com/osrf/vrx/wiki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858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Gazebo:</a:t>
            </a:r>
            <a:r>
              <a:rPr lang="en-US" sz="900" b="0" u="sng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  <a:hlinkClick r:id="rId55"/>
              </a:rPr>
              <a:t> </a:t>
            </a:r>
            <a:r>
              <a:rPr lang="en-US" sz="900" b="0" u="sng" strike="noStrike">
                <a:solidFill>
                  <a:schemeClr val="hlink"/>
                </a:solidFill>
                <a:effectLst/>
                <a:uFillTx/>
                <a:latin typeface="Arial"/>
                <a:ea typeface="Arial"/>
                <a:hlinkClick r:id="rId56"/>
              </a:rPr>
              <a:t>https://gazebosim.org/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Google Shape;606;p27"/>
          <p:cNvSpPr/>
          <p:nvPr/>
        </p:nvSpPr>
        <p:spPr>
          <a:xfrm>
            <a:off x="11274480" y="6355080"/>
            <a:ext cx="639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C7A99"/>
                </a:solidFill>
                <a:effectLst/>
                <a:uFillTx/>
                <a:latin typeface="Calibri"/>
                <a:ea typeface="Calibri"/>
              </a:rPr>
              <a:t>25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612;p28"/>
          <p:cNvSpPr/>
          <p:nvPr/>
        </p:nvSpPr>
        <p:spPr>
          <a:xfrm>
            <a:off x="640080" y="457200"/>
            <a:ext cx="4571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Appendix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Google Shape;613;p28"/>
          <p:cNvSpPr/>
          <p:nvPr/>
        </p:nvSpPr>
        <p:spPr>
          <a:xfrm>
            <a:off x="594360" y="731520"/>
            <a:ext cx="7314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B2545"/>
                </a:solidFill>
                <a:effectLst/>
                <a:uFillTx/>
                <a:latin typeface="Cambria"/>
                <a:ea typeface="Cambria"/>
              </a:rPr>
              <a:t>Abbreviations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Google Shape;614;p28"/>
          <p:cNvSpPr/>
          <p:nvPr/>
        </p:nvSpPr>
        <p:spPr>
          <a:xfrm>
            <a:off x="601200" y="1391040"/>
            <a:ext cx="10280160" cy="50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marL="457200" indent="-311040">
              <a:lnSpc>
                <a:spcPct val="115000"/>
              </a:lnSpc>
              <a:buClr>
                <a:srgbClr val="000000"/>
              </a:buClr>
              <a:buFont typeface="Arial"/>
              <a:buChar char="●"/>
            </a:pPr>
            <a:r>
              <a:rPr lang="en-US" sz="13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AI</a:t>
            </a: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: Artificial Intelligence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1040">
              <a:lnSpc>
                <a:spcPct val="115000"/>
              </a:lnSpc>
              <a:buClr>
                <a:srgbClr val="000000"/>
              </a:buClr>
              <a:buFont typeface="Arial"/>
              <a:buChar char="●"/>
            </a:pPr>
            <a:r>
              <a:rPr lang="en-US" sz="13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AIS</a:t>
            </a: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: Automatic Identification System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1040">
              <a:lnSpc>
                <a:spcPct val="115000"/>
              </a:lnSpc>
              <a:buClr>
                <a:srgbClr val="000000"/>
              </a:buClr>
              <a:buFont typeface="Arial"/>
              <a:buChar char="●"/>
            </a:pPr>
            <a:r>
              <a:rPr lang="en-US" sz="13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AR</a:t>
            </a: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: Agentic Recovery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1040">
              <a:lnSpc>
                <a:spcPct val="115000"/>
              </a:lnSpc>
              <a:buClr>
                <a:srgbClr val="000000"/>
              </a:buClr>
              <a:buFont typeface="Arial"/>
              <a:buChar char="●"/>
            </a:pPr>
            <a:r>
              <a:rPr lang="en-US" sz="13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CTDE</a:t>
            </a: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: Centralized Training with Decentralized Execution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1040">
              <a:lnSpc>
                <a:spcPct val="115000"/>
              </a:lnSpc>
              <a:buClr>
                <a:srgbClr val="000000"/>
              </a:buClr>
              <a:buFont typeface="Arial"/>
              <a:buChar char="●"/>
            </a:pPr>
            <a:r>
              <a:rPr lang="en-US" sz="13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DRL</a:t>
            </a: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: Deep Reinforcement Learning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1040">
              <a:lnSpc>
                <a:spcPct val="115000"/>
              </a:lnSpc>
              <a:buClr>
                <a:srgbClr val="000000"/>
              </a:buClr>
              <a:buFont typeface="Arial"/>
              <a:buChar char="●"/>
            </a:pPr>
            <a:r>
              <a:rPr lang="en-US" sz="13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FANET</a:t>
            </a: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: Flying Ad Hoc Network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1040">
              <a:lnSpc>
                <a:spcPct val="115000"/>
              </a:lnSpc>
              <a:buClr>
                <a:srgbClr val="000000"/>
              </a:buClr>
              <a:buFont typeface="Arial"/>
              <a:buChar char="●"/>
            </a:pPr>
            <a:r>
              <a:rPr lang="en-US" sz="13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FA-MAPPO</a:t>
            </a: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: Fault-Aware Multi-Agent Proximal Policy Optimization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1040">
              <a:lnSpc>
                <a:spcPct val="115000"/>
              </a:lnSpc>
              <a:buClr>
                <a:srgbClr val="000000"/>
              </a:buClr>
              <a:buFont typeface="Arial"/>
              <a:buChar char="●"/>
            </a:pPr>
            <a:r>
              <a:rPr lang="en-US" sz="13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GPS</a:t>
            </a: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: Global Positioning System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1040">
              <a:lnSpc>
                <a:spcPct val="115000"/>
              </a:lnSpc>
              <a:buClr>
                <a:srgbClr val="000000"/>
              </a:buClr>
              <a:buFont typeface="Arial"/>
              <a:buChar char="●"/>
            </a:pPr>
            <a:r>
              <a:rPr lang="en-US" sz="13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IMU</a:t>
            </a: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: Inertial Measurement Unit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1040">
              <a:lnSpc>
                <a:spcPct val="115000"/>
              </a:lnSpc>
              <a:buClr>
                <a:srgbClr val="000000"/>
              </a:buClr>
              <a:buFont typeface="Arial"/>
              <a:buChar char="●"/>
            </a:pPr>
            <a:r>
              <a:rPr lang="en-US" sz="13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LLM</a:t>
            </a: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: Large Language Model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1040">
              <a:lnSpc>
                <a:spcPct val="115000"/>
              </a:lnSpc>
              <a:buClr>
                <a:srgbClr val="000000"/>
              </a:buClr>
              <a:buFont typeface="Arial"/>
              <a:buChar char="●"/>
            </a:pPr>
            <a:r>
              <a:rPr lang="en-US" sz="13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MADDPG</a:t>
            </a: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: Multi-Agent Deep Deterministic Policy Gradient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1040">
              <a:lnSpc>
                <a:spcPct val="115000"/>
              </a:lnSpc>
              <a:buClr>
                <a:srgbClr val="000000"/>
              </a:buClr>
              <a:buFont typeface="Arial"/>
              <a:buChar char="●"/>
            </a:pPr>
            <a:r>
              <a:rPr lang="en-US" sz="13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MAPPO</a:t>
            </a: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: Multi-Agent Proximal Policy Optimization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1040">
              <a:lnSpc>
                <a:spcPct val="115000"/>
              </a:lnSpc>
              <a:buClr>
                <a:srgbClr val="000000"/>
              </a:buClr>
              <a:buFont typeface="Arial"/>
              <a:buChar char="●"/>
            </a:pPr>
            <a:r>
              <a:rPr lang="en-US" sz="13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MARL</a:t>
            </a: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: Multi-Agent Reinforcement Learning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1040">
              <a:lnSpc>
                <a:spcPct val="115000"/>
              </a:lnSpc>
              <a:buClr>
                <a:srgbClr val="000000"/>
              </a:buClr>
              <a:buFont typeface="Arial"/>
              <a:buChar char="●"/>
            </a:pPr>
            <a:r>
              <a:rPr lang="en-US" sz="13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MPC</a:t>
            </a: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: Model Predictive Control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1040">
              <a:lnSpc>
                <a:spcPct val="115000"/>
              </a:lnSpc>
              <a:buClr>
                <a:srgbClr val="000000"/>
              </a:buClr>
              <a:buFont typeface="Arial"/>
              <a:buChar char="●"/>
            </a:pPr>
            <a:r>
              <a:rPr lang="en-US" sz="13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RL</a:t>
            </a: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: Reinforcement Learning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1040">
              <a:lnSpc>
                <a:spcPct val="115000"/>
              </a:lnSpc>
              <a:buClr>
                <a:srgbClr val="000000"/>
              </a:buClr>
              <a:buFont typeface="Arial"/>
              <a:buChar char="●"/>
            </a:pPr>
            <a:r>
              <a:rPr lang="en-US" sz="13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ROS</a:t>
            </a: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: Robot Operating System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1040">
              <a:lnSpc>
                <a:spcPct val="115000"/>
              </a:lnSpc>
              <a:buClr>
                <a:srgbClr val="000000"/>
              </a:buClr>
              <a:buFont typeface="Arial"/>
              <a:buChar char="●"/>
            </a:pPr>
            <a:r>
              <a:rPr lang="en-US" sz="13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SFG</a:t>
            </a: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: Scenario and Fault Generator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1040">
              <a:lnSpc>
                <a:spcPct val="115000"/>
              </a:lnSpc>
              <a:buClr>
                <a:srgbClr val="000000"/>
              </a:buClr>
              <a:buFont typeface="Arial"/>
              <a:buChar char="●"/>
            </a:pPr>
            <a:r>
              <a:rPr lang="en-US" sz="13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USV</a:t>
            </a: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: Unmanned Surface Vehicle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1040">
              <a:lnSpc>
                <a:spcPct val="115000"/>
              </a:lnSpc>
              <a:buClr>
                <a:srgbClr val="000000"/>
              </a:buClr>
              <a:buFont typeface="Arial"/>
              <a:buChar char="●"/>
            </a:pPr>
            <a:r>
              <a:rPr lang="en-US" sz="13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VRX</a:t>
            </a: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: Virtual RobotX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1040">
              <a:lnSpc>
                <a:spcPct val="115000"/>
              </a:lnSpc>
              <a:buClr>
                <a:srgbClr val="000000"/>
              </a:buClr>
              <a:buFont typeface="Arial"/>
              <a:buChar char="●"/>
            </a:pPr>
            <a:r>
              <a:rPr lang="en-US" sz="13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UAV</a:t>
            </a: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: Unmanned Aerial Vehicle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1040">
              <a:lnSpc>
                <a:spcPct val="115000"/>
              </a:lnSpc>
              <a:buClr>
                <a:srgbClr val="000000"/>
              </a:buClr>
              <a:buFont typeface="Arial"/>
              <a:buChar char="●"/>
            </a:pPr>
            <a:r>
              <a:rPr lang="en-US" sz="13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UGV</a:t>
            </a: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: Unmanned Ground Vehicle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15000"/>
              </a:lnSpc>
              <a:tabLst>
                <a:tab pos="0" algn="l"/>
              </a:tabLst>
            </a:pP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Google Shape;615;p28"/>
          <p:cNvSpPr/>
          <p:nvPr/>
        </p:nvSpPr>
        <p:spPr>
          <a:xfrm>
            <a:off x="11274480" y="6355080"/>
            <a:ext cx="639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C7A99"/>
                </a:solidFill>
                <a:effectLst/>
                <a:uFillTx/>
                <a:latin typeface="Calibri"/>
                <a:ea typeface="Calibri"/>
              </a:rPr>
              <a:t>26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621;p29"/>
          <p:cNvSpPr/>
          <p:nvPr/>
        </p:nvSpPr>
        <p:spPr>
          <a:xfrm>
            <a:off x="640080" y="457200"/>
            <a:ext cx="4571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Appendix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Google Shape;622;p29"/>
          <p:cNvSpPr/>
          <p:nvPr/>
        </p:nvSpPr>
        <p:spPr>
          <a:xfrm>
            <a:off x="594360" y="731520"/>
            <a:ext cx="7314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B2545"/>
                </a:solidFill>
                <a:effectLst/>
                <a:uFillTx/>
                <a:latin typeface="Cambria"/>
                <a:ea typeface="Cambria"/>
              </a:rPr>
              <a:t>Glossary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Google Shape;623;p29"/>
          <p:cNvSpPr/>
          <p:nvPr/>
        </p:nvSpPr>
        <p:spPr>
          <a:xfrm>
            <a:off x="601200" y="1391040"/>
            <a:ext cx="10280160" cy="50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15000"/>
              </a:lnSpc>
              <a:tabLst>
                <a:tab pos="0" algn="l"/>
              </a:tabLst>
            </a:pP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10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3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Fault Diagnosis:</a:t>
            </a: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Identification and classification of active hardware, sensor, or network anomalies in individual agents.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10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3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Fault Injection:</a:t>
            </a: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Deliberate introduction of synthetic sensor, actuator, and link faults into simulation to benchmark robustness.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10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3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Node Degradation:</a:t>
            </a: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Partial or complete loss of sensing, processing, or propulsion capability in an individual USV.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10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3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Link Degradation:</a:t>
            </a: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Reduced communication throughput, high packet loss, or link partitioning across the swarm mesh.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10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3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Fault Tolerance:</a:t>
            </a: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The ability of the swarm to maintain nominal operations despite sub-system or component failures.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10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3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Self-Healing:</a:t>
            </a: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Autonomous closed loop that detects degradation, executes corrective policies, and restores swarm functionality.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10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3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Agentic Recovery:</a:t>
            </a: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High-level reasoning process to diagnose faults, replan swarm topology, and restore mission performance.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10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3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Role Reallocation:</a:t>
            </a: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Dynamic reassignment of operational roles (</a:t>
            </a:r>
            <a:r>
              <a:rPr lang="en-US" sz="1300" b="0" i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Scout</a:t>
            </a: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, </a:t>
            </a:r>
            <a:r>
              <a:rPr lang="en-US" sz="1300" b="0" i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Tracker</a:t>
            </a: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, </a:t>
            </a:r>
            <a:r>
              <a:rPr lang="en-US" sz="1300" b="0" i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Interceptor</a:t>
            </a: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, </a:t>
            </a:r>
            <a:r>
              <a:rPr lang="en-US" sz="1300" b="0" i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Relay</a:t>
            </a: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) when an agent degrades.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10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3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Mission Verification:</a:t>
            </a: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Closed-loop evaluation measuring whether mission objectives and geometric bounds have been recovered.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10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3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Mission Robustness:</a:t>
            </a: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The capacity of the entire fleet to sustain target tracking and containment under continuous operational disturbances.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10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3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Cooperative Tracking:</a:t>
            </a: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Multi-USV pursuit utilizing a fused, shared spatial belief map of a target vessel.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10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3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Encirclement:</a:t>
            </a: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Coordinated angular positioning of USVs to form a non-destructive containment ring around a target.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10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3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Decentralized Execution:</a:t>
            </a: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Operational mode where each USV selects actions independently based on local observations and 1-hop neighbor data.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10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3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State Estimation:</a:t>
            </a: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Kinematic filtering (e.g., via EKF) to infer accurate vehicle and target states from noisy sensor streams.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10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3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Recovery Planner:</a:t>
            </a: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Module that arbitrates fallback formations and topology restructuring following an isolated fault.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10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3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Safety Controller:</a:t>
            </a: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Deterministic layer (e.g., Control Barrier Functions) that enforces minimum vessel separation and collision avoidance.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tabLst>
                <a:tab pos="0" algn="l"/>
              </a:tabLst>
            </a:pP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Google Shape;624;p29"/>
          <p:cNvSpPr/>
          <p:nvPr/>
        </p:nvSpPr>
        <p:spPr>
          <a:xfrm>
            <a:off x="11274480" y="6355080"/>
            <a:ext cx="639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C7A99"/>
                </a:solidFill>
                <a:effectLst/>
                <a:uFillTx/>
                <a:latin typeface="Calibri"/>
                <a:ea typeface="Calibri"/>
              </a:rPr>
              <a:t>27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" name="Google Shape;630;p30" descr="assets/swarm_aerial.jpeg"/>
          <p:cNvPicPr/>
          <p:nvPr/>
        </p:nvPicPr>
        <p:blipFill>
          <a:blip r:embed="rId1"/>
          <a:stretch/>
        </p:blipFill>
        <p:spPr>
          <a:xfrm>
            <a:off x="0" y="0"/>
            <a:ext cx="1218852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2" name="Google Shape;631;p30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0B2545">
              <a:alpha val="7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3" name="Google Shape;632;p30"/>
          <p:cNvSpPr/>
          <p:nvPr/>
        </p:nvSpPr>
        <p:spPr>
          <a:xfrm>
            <a:off x="0" y="2331720"/>
            <a:ext cx="121885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4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Thank You</a:t>
            </a:r>
            <a:endParaRPr lang="en-US" sz="4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4" name="Google Shape;633;p30"/>
          <p:cNvSpPr/>
          <p:nvPr/>
        </p:nvSpPr>
        <p:spPr>
          <a:xfrm>
            <a:off x="0" y="3246120"/>
            <a:ext cx="12188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Questions &amp; discussion welcome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5" name="Google Shape;634;p30"/>
          <p:cNvSpPr/>
          <p:nvPr/>
        </p:nvSpPr>
        <p:spPr>
          <a:xfrm>
            <a:off x="2802600" y="4114800"/>
            <a:ext cx="6583320" cy="1051200"/>
          </a:xfrm>
          <a:prstGeom prst="rect">
            <a:avLst/>
          </a:prstGeom>
          <a:solidFill>
            <a:srgbClr val="0B2545">
              <a:alpha val="90000"/>
            </a:srgbClr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6" name="Google Shape;635;p30"/>
          <p:cNvSpPr/>
          <p:nvPr/>
        </p:nvSpPr>
        <p:spPr>
          <a:xfrm>
            <a:off x="2802600" y="4251960"/>
            <a:ext cx="2194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Suchet Kumbar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7" name="Google Shape;636;p30"/>
          <p:cNvSpPr/>
          <p:nvPr/>
        </p:nvSpPr>
        <p:spPr>
          <a:xfrm>
            <a:off x="2802600" y="4617720"/>
            <a:ext cx="2194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FB8D1"/>
                </a:solidFill>
                <a:effectLst/>
                <a:uFillTx/>
                <a:latin typeface="Calibri"/>
                <a:ea typeface="Calibri"/>
              </a:rPr>
              <a:t>23BRS1073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8" name="Google Shape;637;p30"/>
          <p:cNvSpPr/>
          <p:nvPr/>
        </p:nvSpPr>
        <p:spPr>
          <a:xfrm>
            <a:off x="4997160" y="4251960"/>
            <a:ext cx="2194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Siddharth Seth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9" name="Google Shape;638;p30"/>
          <p:cNvSpPr/>
          <p:nvPr/>
        </p:nvSpPr>
        <p:spPr>
          <a:xfrm>
            <a:off x="4997160" y="4617720"/>
            <a:ext cx="2194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FB8D1"/>
                </a:solidFill>
                <a:effectLst/>
                <a:uFillTx/>
                <a:latin typeface="Calibri"/>
                <a:ea typeface="Calibri"/>
              </a:rPr>
              <a:t>23BRS1038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0" name="Google Shape;639;p30"/>
          <p:cNvSpPr/>
          <p:nvPr/>
        </p:nvSpPr>
        <p:spPr>
          <a:xfrm>
            <a:off x="7191720" y="4251960"/>
            <a:ext cx="2194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Pritish Bhatasana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1" name="Google Shape;640;p30"/>
          <p:cNvSpPr/>
          <p:nvPr/>
        </p:nvSpPr>
        <p:spPr>
          <a:xfrm>
            <a:off x="7191720" y="4617720"/>
            <a:ext cx="2194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FB8D1"/>
                </a:solidFill>
                <a:effectLst/>
                <a:uFillTx/>
                <a:latin typeface="Calibri"/>
                <a:ea typeface="Calibri"/>
              </a:rPr>
              <a:t>23BRS1035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2" name="Google Shape;641;p30"/>
          <p:cNvSpPr/>
          <p:nvPr/>
        </p:nvSpPr>
        <p:spPr>
          <a:xfrm>
            <a:off x="11274480" y="6355080"/>
            <a:ext cx="639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E93B5"/>
                </a:solidFill>
                <a:effectLst/>
                <a:uFillTx/>
                <a:latin typeface="Calibri"/>
                <a:ea typeface="Calibri"/>
              </a:rPr>
              <a:t>28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LibreOffice/26.2.5.2$Linux_X86_64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